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ate"/>
      <p:regular r:id="rId18"/>
      <p:italic r:id="rId19"/>
    </p:embeddedFont>
    <p:embeddedFont>
      <p:font typeface="Plus Jakarta Sans ExtraBold"/>
      <p:bold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lus Jakarta Sans"/>
      <p:regular r:id="rId30"/>
      <p:bold r:id="rId31"/>
      <p:italic r:id="rId32"/>
      <p:boldItalic r:id="rId33"/>
    </p:embeddedFont>
    <p:embeddedFont>
      <p:font typeface="Plus Jakarta Sans SemiBold"/>
      <p:regular r:id="rId34"/>
      <p:bold r:id="rId35"/>
      <p:italic r:id="rId36"/>
      <p:boldItalic r:id="rId37"/>
    </p:embeddedFont>
    <p:embeddedFont>
      <p:font typeface="Lexend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izvGW8AlJ5qaC5bpAo3ww3QT54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font" Target="fonts/PlusJakartaSansExtraBold-bold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PlusJakartaSansExtraBold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-bold.fntdata"/><Relationship Id="rId30" Type="http://schemas.openxmlformats.org/officeDocument/2006/relationships/font" Target="fonts/PlusJakartaSans-regular.fntdata"/><Relationship Id="rId11" Type="http://schemas.openxmlformats.org/officeDocument/2006/relationships/slide" Target="slides/slide6.xml"/><Relationship Id="rId33" Type="http://schemas.openxmlformats.org/officeDocument/2006/relationships/font" Target="fonts/PlusJakartaSans-boldItalic.fntdata"/><Relationship Id="rId10" Type="http://schemas.openxmlformats.org/officeDocument/2006/relationships/slide" Target="slides/slide5.xml"/><Relationship Id="rId32" Type="http://schemas.openxmlformats.org/officeDocument/2006/relationships/font" Target="fonts/PlusJakartaSans-italic.fntdata"/><Relationship Id="rId13" Type="http://schemas.openxmlformats.org/officeDocument/2006/relationships/slide" Target="slides/slide8.xml"/><Relationship Id="rId35" Type="http://schemas.openxmlformats.org/officeDocument/2006/relationships/font" Target="fonts/PlusJakartaSansSemiBold-bold.fntdata"/><Relationship Id="rId12" Type="http://schemas.openxmlformats.org/officeDocument/2006/relationships/slide" Target="slides/slide7.xml"/><Relationship Id="rId34" Type="http://schemas.openxmlformats.org/officeDocument/2006/relationships/font" Target="fonts/PlusJakartaSans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PlusJakartaSans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lusJakartaSansSemiBold-italic.fntdata"/><Relationship Id="rId17" Type="http://schemas.openxmlformats.org/officeDocument/2006/relationships/slide" Target="slides/slide12.xml"/><Relationship Id="rId39" Type="http://schemas.openxmlformats.org/officeDocument/2006/relationships/font" Target="fonts/Lexend-bold.fntdata"/><Relationship Id="rId16" Type="http://schemas.openxmlformats.org/officeDocument/2006/relationships/slide" Target="slides/slide11.xml"/><Relationship Id="rId38" Type="http://schemas.openxmlformats.org/officeDocument/2006/relationships/font" Target="fonts/Lexend-regular.fntdata"/><Relationship Id="rId19" Type="http://schemas.openxmlformats.org/officeDocument/2006/relationships/font" Target="fonts/Mate-italic.fntdata"/><Relationship Id="rId18" Type="http://schemas.openxmlformats.org/officeDocument/2006/relationships/font" Target="fonts/Mat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11" Type="http://schemas.openxmlformats.org/officeDocument/2006/relationships/image" Target="../media/image9.png"/><Relationship Id="rId10" Type="http://schemas.openxmlformats.org/officeDocument/2006/relationships/image" Target="../media/image13.png"/><Relationship Id="rId9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36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33.png"/><Relationship Id="rId13" Type="http://schemas.openxmlformats.org/officeDocument/2006/relationships/image" Target="../media/image30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42.png"/><Relationship Id="rId9" Type="http://schemas.openxmlformats.org/officeDocument/2006/relationships/image" Target="../media/image49.png"/><Relationship Id="rId15" Type="http://schemas.openxmlformats.org/officeDocument/2006/relationships/image" Target="../media/image31.png"/><Relationship Id="rId14" Type="http://schemas.openxmlformats.org/officeDocument/2006/relationships/image" Target="../media/image35.png"/><Relationship Id="rId17" Type="http://schemas.openxmlformats.org/officeDocument/2006/relationships/image" Target="../media/image66.png"/><Relationship Id="rId16" Type="http://schemas.openxmlformats.org/officeDocument/2006/relationships/image" Target="../media/image37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18" Type="http://schemas.openxmlformats.org/officeDocument/2006/relationships/image" Target="../media/image50.png"/><Relationship Id="rId7" Type="http://schemas.openxmlformats.org/officeDocument/2006/relationships/image" Target="../media/image24.png"/><Relationship Id="rId8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6.png"/><Relationship Id="rId10" Type="http://schemas.openxmlformats.org/officeDocument/2006/relationships/image" Target="../media/image65.png"/><Relationship Id="rId13" Type="http://schemas.openxmlformats.org/officeDocument/2006/relationships/image" Target="../media/image59.png"/><Relationship Id="rId1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47.png"/><Relationship Id="rId9" Type="http://schemas.openxmlformats.org/officeDocument/2006/relationships/image" Target="../media/image39.png"/><Relationship Id="rId15" Type="http://schemas.openxmlformats.org/officeDocument/2006/relationships/image" Target="../media/image40.png"/><Relationship Id="rId14" Type="http://schemas.openxmlformats.org/officeDocument/2006/relationships/image" Target="../media/image55.png"/><Relationship Id="rId17" Type="http://schemas.openxmlformats.org/officeDocument/2006/relationships/image" Target="../media/image60.png"/><Relationship Id="rId16" Type="http://schemas.openxmlformats.org/officeDocument/2006/relationships/image" Target="../media/image41.png"/><Relationship Id="rId5" Type="http://schemas.openxmlformats.org/officeDocument/2006/relationships/image" Target="../media/image61.png"/><Relationship Id="rId6" Type="http://schemas.openxmlformats.org/officeDocument/2006/relationships/image" Target="../media/image38.png"/><Relationship Id="rId18" Type="http://schemas.openxmlformats.org/officeDocument/2006/relationships/image" Target="../media/image44.png"/><Relationship Id="rId7" Type="http://schemas.openxmlformats.org/officeDocument/2006/relationships/image" Target="../media/image62.png"/><Relationship Id="rId8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3.png"/><Relationship Id="rId4" Type="http://schemas.openxmlformats.org/officeDocument/2006/relationships/image" Target="../media/image58.png"/><Relationship Id="rId9" Type="http://schemas.openxmlformats.org/officeDocument/2006/relationships/image" Target="../media/image57.png"/><Relationship Id="rId5" Type="http://schemas.openxmlformats.org/officeDocument/2006/relationships/image" Target="../media/image54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6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090624" y="2350740"/>
            <a:ext cx="60108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AIRAM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233737" y="3408015"/>
            <a:ext cx="572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AI-Assisted Requirement Analysis &amp;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233737" y="4059435"/>
            <a:ext cx="572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prove the resolution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7903" y="2220657"/>
            <a:ext cx="1157636" cy="106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25" y="140000"/>
            <a:ext cx="2769412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52892" y="0"/>
            <a:ext cx="1007385" cy="8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 </a:t>
            </a:r>
            <a:r>
              <a:rPr b="1" i="0" lang="en-US" sz="31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</a:t>
            </a:r>
            <a:endParaRPr b="1" i="0" sz="31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71500" y="1238250"/>
            <a:ext cx="11049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Manual validation of  automotive requirements against standards like ASPICE and ISO 26262 introduces severe bottlenecks:</a:t>
            </a:r>
            <a:endParaRPr b="0" i="0" sz="148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7" name="Google Shape;97;p2"/>
          <p:cNvGrpSpPr/>
          <p:nvPr/>
        </p:nvGrpSpPr>
        <p:grpSpPr>
          <a:xfrm>
            <a:off x="571500" y="2000250"/>
            <a:ext cx="3429000" cy="3905400"/>
            <a:chOff x="0" y="0"/>
            <a:chExt cx="3429000" cy="3905400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3429000" cy="39054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285750" y="285750"/>
              <a:ext cx="533400" cy="533400"/>
            </a:xfrm>
            <a:prstGeom prst="roundRect">
              <a:avLst>
                <a:gd fmla="val 21428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285750" y="32080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EF4444"/>
                  </a:solidFill>
                  <a:latin typeface="Mate"/>
                  <a:ea typeface="Mate"/>
                  <a:cs typeface="Mate"/>
                  <a:sym typeface="Mate"/>
                </a:rPr>
                <a:t>1.</a:t>
              </a:r>
              <a:endParaRPr b="0" i="0" sz="2400" u="none" cap="none" strike="noStrike">
                <a:solidFill>
                  <a:srgbClr val="EF444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285750" y="1047750"/>
              <a:ext cx="2857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Time-Consuming</a:t>
              </a:r>
              <a:endParaRPr b="1" i="0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Evaluating complex standard requirements manually demands massive engineering hours, severely delaying product time-to-market.</a:t>
              </a:r>
              <a:endParaRPr b="0" i="0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4381500" y="2000250"/>
            <a:ext cx="3429000" cy="3905400"/>
            <a:chOff x="0" y="0"/>
            <a:chExt cx="3429000" cy="3905400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3429000" cy="39054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85750" y="285750"/>
              <a:ext cx="533400" cy="533400"/>
            </a:xfrm>
            <a:prstGeom prst="roundRect">
              <a:avLst>
                <a:gd fmla="val 21428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285750" y="32080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EF4444"/>
                  </a:solidFill>
                  <a:latin typeface="Mate"/>
                  <a:ea typeface="Mate"/>
                  <a:cs typeface="Mate"/>
                  <a:sym typeface="Mate"/>
                </a:rPr>
                <a:t>2.</a:t>
              </a:r>
              <a:endParaRPr b="0" i="0" sz="2400" u="none" cap="none" strike="noStrike">
                <a:solidFill>
                  <a:srgbClr val="EF444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285750" y="1047750"/>
              <a:ext cx="2857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Prone to Error</a:t>
              </a:r>
              <a:endParaRPr b="1" i="0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Human review struggles to guarantee total accuracy against dense specifications, increasing safety-critical compliance risks.</a:t>
              </a:r>
              <a:endParaRPr b="0" i="0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8191500" y="2000250"/>
            <a:ext cx="3429000" cy="3905400"/>
            <a:chOff x="0" y="0"/>
            <a:chExt cx="3429000" cy="390540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3429000" cy="39054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85750" y="285750"/>
              <a:ext cx="533400" cy="533400"/>
            </a:xfrm>
            <a:prstGeom prst="roundRect">
              <a:avLst>
                <a:gd fmla="val 21428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85750" y="32080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EF4444"/>
                  </a:solidFill>
                  <a:latin typeface="Mate"/>
                  <a:ea typeface="Mate"/>
                  <a:cs typeface="Mate"/>
                  <a:sym typeface="Mate"/>
                </a:rPr>
                <a:t>3.</a:t>
              </a:r>
              <a:endParaRPr b="0" i="0" sz="2400" u="none" cap="none" strike="noStrike">
                <a:solidFill>
                  <a:srgbClr val="EF444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285750" y="1047750"/>
              <a:ext cx="2857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Highly Inconsistent</a:t>
              </a:r>
              <a:endParaRPr b="1" i="0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Validation outcomes and syntax reviews lack uniformity, varying widely between isolated engineering teams.</a:t>
              </a:r>
              <a:endParaRPr b="0" i="0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2" name="Google Shape;112;p2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38325"/>
            <a:ext cx="34290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838325"/>
            <a:ext cx="34290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838325"/>
            <a:ext cx="34290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2288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866775" y="3067050"/>
            <a:ext cx="172755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Quality Audit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866775" y="3543300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Automates the evaluation of requirements against stringent INCOSE guidelines and EARS syntax using advanced LLMs, ensuring immediate compliance detection.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3" name="Google Shape;12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2288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/>
          <p:nvPr/>
        </p:nvSpPr>
        <p:spPr>
          <a:xfrm>
            <a:off x="4676775" y="3067050"/>
            <a:ext cx="223637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Auto-Correction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4676775" y="3543300"/>
            <a:ext cx="2838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Automatically corrects invalid requirements and splits complex ones into single, easy-to-test statements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6" name="Google Shape;12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2288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8486775" y="3067050"/>
            <a:ext cx="1503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Traceability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8486775" y="3543300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Performs semantic matching to ensure bidirectional coverage between High-Level (SWE.1) and Low-Level (SWE.2) requirements, instantly flagging orphans.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9" name="Google Shape;12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23812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10125" y="23812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01075" y="23812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 txBox="1"/>
          <p:nvPr/>
        </p:nvSpPr>
        <p:spPr>
          <a:xfrm>
            <a:off x="571500" y="571500"/>
            <a:ext cx="11601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AIRAM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/>
        </p:nvSpPr>
        <p:spPr>
          <a:xfrm>
            <a:off x="571500" y="571500"/>
            <a:ext cx="5550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</a:t>
            </a: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urrent</a:t>
            </a: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Capability: </a:t>
            </a:r>
            <a:r>
              <a:rPr b="1" i="0" lang="en-US" sz="31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Quality Auditor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571500" y="23145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core evaluation engine audits individual software requirements against strict engineering guidelines with unprecedented accuracy.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571500" y="341947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supports intelligent RAG retrieval, strict JSON rule enforcement, and custom evaluation contexts to deliver precise PASS/REVIEW verdicts with detailed, structured rationale.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571500" y="48291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secondary LLM recheck mechanism ensures subtle violations missed in the first pass are captured, guaranteeing assessment rigor.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-2447" r="5744" t="0"/>
          <a:stretch/>
        </p:blipFill>
        <p:spPr>
          <a:xfrm>
            <a:off x="6122100" y="106125"/>
            <a:ext cx="6058424" cy="652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/>
        </p:nvSpPr>
        <p:spPr>
          <a:xfrm>
            <a:off x="704850" y="1966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809625" y="19669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Evaluates bidirectional tracing compliance between High-Level (SWE.1) and Low-Level (SWE.2) requirements effortlessly.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704850" y="30718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809625" y="30718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Utilizes Large Language Model semantic matching to accurately identify valid requirement links, going beyond simple keyword searches.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704850" y="41767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809625" y="41767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Automatically flags orphaned SWE.2 requirements lacking parent HLR coverage to prevent scope creep.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704850" y="49768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809625" y="49768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Processes large datasets efficiently with intelligent context window management and batch execution.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295200" y="509500"/>
            <a:ext cx="11601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Capability: Traceability</a:t>
            </a:r>
            <a:endParaRPr b="1" i="0" sz="31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Analyzer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6625" y="694225"/>
            <a:ext cx="5408501" cy="562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9825"/>
            <a:ext cx="52387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09825"/>
            <a:ext cx="523875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 txBox="1"/>
          <p:nvPr/>
        </p:nvSpPr>
        <p:spPr>
          <a:xfrm>
            <a:off x="962025" y="2800350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Intelligent Ingestion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962025" y="3276600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Progressively parses and intelligently chunks complex documentation including PDFs, Excel sheets, CSVs, JSON, and TXT files. It leverages cutting-edge extraction models to embed data into a highly scalable Qdrant vector database.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6772275" y="2800350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Semantic Retrieval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6772275" y="3276600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highly relevant engineering guidelines as direct context for LLM audits. This ensures that automated compliance checks are deeply rooted in your organization's specific standards, rather than generic AI knowledge.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Knowledge (RAG)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 txBox="1"/>
          <p:nvPr/>
        </p:nvSpPr>
        <p:spPr>
          <a:xfrm>
            <a:off x="2286000" y="21955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Frontend Framework: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Angular 22 framework with TypeScript, utilizing a clean, component-based architecture and real-time SSE streaming for long-running processes.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2286000" y="30337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Backend Architecture: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High-performance FastAPI application written in Python 3.10+, backed by an embedded SQLite database (with Postgres readiness for cloud).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2286000" y="38719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&amp; Foundation Models: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Powered by the NVIDIA NIM API, utilizing the state-of-the-art Llama 3.3 Nemotron 49B model and nv-e5-v5 for highly accurate embeddings.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2286000" y="47101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Vector Storage: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Integrates seamlessly with Qdrant Cloud for robust semantic search, context retrieval, and fast document metadata filtering.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1" name="Google Shape;18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2240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62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00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7386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10629900" y="6457950"/>
            <a:ext cx="11811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33587"/>
            <a:ext cx="3429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33587"/>
            <a:ext cx="3429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 txBox="1"/>
          <p:nvPr/>
        </p:nvSpPr>
        <p:spPr>
          <a:xfrm>
            <a:off x="571500" y="4548187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Dashboard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571500" y="4957762"/>
            <a:ext cx="342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 compliance trends and execution history.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4381500" y="4548187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Evaluation Workspace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4381500" y="4957762"/>
            <a:ext cx="342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Upload files and control real-time analysis execution.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8944282" y="4554487"/>
            <a:ext cx="360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Knowledge Config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8913550" y="4962412"/>
            <a:ext cx="342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Manage standards and evaluate semantic retrieval.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Platform Interface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11"/>
          <p:cNvPicPr preferRelativeResize="0"/>
          <p:nvPr/>
        </p:nvPicPr>
        <p:blipFill rotWithShape="1">
          <a:blip r:embed="rId5">
            <a:alphaModFix/>
          </a:blip>
          <a:srcRect b="0" l="0" r="7544" t="0"/>
          <a:stretch/>
        </p:blipFill>
        <p:spPr>
          <a:xfrm>
            <a:off x="121392" y="1912163"/>
            <a:ext cx="4065278" cy="23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1"/>
          <p:cNvPicPr preferRelativeResize="0"/>
          <p:nvPr/>
        </p:nvPicPr>
        <p:blipFill rotWithShape="1">
          <a:blip r:embed="rId6">
            <a:alphaModFix/>
          </a:blip>
          <a:srcRect b="0" l="0" r="4862" t="0"/>
          <a:stretch/>
        </p:blipFill>
        <p:spPr>
          <a:xfrm>
            <a:off x="4468775" y="1847021"/>
            <a:ext cx="4065277" cy="2340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34052" y="2109640"/>
            <a:ext cx="3440422" cy="203453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1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86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98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756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9611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268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123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6781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"/>
          <p:cNvSpPr/>
          <p:nvPr/>
        </p:nvSpPr>
        <p:spPr>
          <a:xfrm>
            <a:off x="1524000" y="2914650"/>
            <a:ext cx="9144000" cy="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7" name="Google Shape;217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7636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"/>
          <p:cNvSpPr txBox="1"/>
          <p:nvPr/>
        </p:nvSpPr>
        <p:spPr>
          <a:xfrm>
            <a:off x="708183" y="3867150"/>
            <a:ext cx="206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Case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690562" y="4267200"/>
            <a:ext cx="20955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Auto-draft verification tests (SWE.4–6) linked directly back to the source requirement ID.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0" name="Google Shape;220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8148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"/>
          <p:cNvSpPr txBox="1"/>
          <p:nvPr/>
        </p:nvSpPr>
        <p:spPr>
          <a:xfrm>
            <a:off x="3543300" y="3867150"/>
            <a:ext cx="2200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6282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Change-Impact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 txBox="1"/>
          <p:nvPr/>
        </p:nvSpPr>
        <p:spPr>
          <a:xfrm>
            <a:off x="3595687" y="451485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Instantly flags when downstream SWE.2s and test cases go stale due to an SWE.1 edit.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3" name="Google Shape;223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8661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"/>
          <p:cNvSpPr txBox="1"/>
          <p:nvPr/>
        </p:nvSpPr>
        <p:spPr>
          <a:xfrm>
            <a:off x="6573440" y="3867150"/>
            <a:ext cx="195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651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Diagram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 txBox="1"/>
          <p:nvPr/>
        </p:nvSpPr>
        <p:spPr>
          <a:xfrm>
            <a:off x="6500812" y="426720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Automatically draft sequence, class, and state diagrams (Mermaid) from requirements sets.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6" name="Google Shape;226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173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"/>
          <p:cNvSpPr txBox="1"/>
          <p:nvPr/>
        </p:nvSpPr>
        <p:spPr>
          <a:xfrm>
            <a:off x="9418558" y="3867150"/>
            <a:ext cx="207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277B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Diagram Consistency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 txBox="1"/>
          <p:nvPr/>
        </p:nvSpPr>
        <p:spPr>
          <a:xfrm>
            <a:off x="9405937" y="426720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Parses diagram elements visually and flags missing gaps or orphans against requirements.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9" name="Google Shape;229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576387" y="2733675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38650" y="2733675"/>
            <a:ext cx="4095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367587" y="2733675"/>
            <a:ext cx="3619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272712" y="2733675"/>
            <a:ext cx="361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"/>
          <p:cNvSpPr txBox="1"/>
          <p:nvPr/>
        </p:nvSpPr>
        <p:spPr>
          <a:xfrm>
            <a:off x="190500" y="762000"/>
            <a:ext cx="1181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1E293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Agentic Workflows &amp; Traceability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3895725" y="1485900"/>
            <a:ext cx="44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EXPANDING THE V-CYCLE AUTOMATION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86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98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756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9611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268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123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6781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5"/>
          <p:cNvSpPr/>
          <p:nvPr/>
        </p:nvSpPr>
        <p:spPr>
          <a:xfrm>
            <a:off x="1524000" y="2914650"/>
            <a:ext cx="9144000" cy="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7636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"/>
          <p:cNvSpPr txBox="1"/>
          <p:nvPr/>
        </p:nvSpPr>
        <p:spPr>
          <a:xfrm>
            <a:off x="638175" y="3867150"/>
            <a:ext cx="2200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527A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Role-Based Dashboards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690562" y="4514850"/>
            <a:ext cx="20955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Separate, tailored views and controls for Authors, Reviewers, and Team Leads.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2" name="Google Shape;252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8148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5"/>
          <p:cNvSpPr txBox="1"/>
          <p:nvPr/>
        </p:nvSpPr>
        <p:spPr>
          <a:xfrm>
            <a:off x="3543300" y="3867150"/>
            <a:ext cx="22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Chatbot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"/>
          <p:cNvSpPr txBox="1"/>
          <p:nvPr/>
        </p:nvSpPr>
        <p:spPr>
          <a:xfrm>
            <a:off x="3595687" y="451485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Chat interface to properly communicate "Which SWE.2s cover the trigger?" instead of filtering complex tables.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5" name="Google Shape;255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8661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5"/>
          <p:cNvSpPr txBox="1"/>
          <p:nvPr/>
        </p:nvSpPr>
        <p:spPr>
          <a:xfrm>
            <a:off x="6578441" y="3867150"/>
            <a:ext cx="194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6282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Teams / Slack Alerts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 txBox="1"/>
          <p:nvPr/>
        </p:nvSpPr>
        <p:spPr>
          <a:xfrm>
            <a:off x="6500812" y="4267200"/>
            <a:ext cx="20955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Send instant notifications </a:t>
            </a:r>
            <a:endParaRPr b="0" i="0" sz="1125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 raise tickets</a:t>
            </a:r>
            <a:endParaRPr b="0" i="0" sz="1125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58" name="Google Shape;258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173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"/>
          <p:cNvSpPr txBox="1"/>
          <p:nvPr/>
        </p:nvSpPr>
        <p:spPr>
          <a:xfrm>
            <a:off x="9513570" y="3867150"/>
            <a:ext cx="188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651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Baseline Versioning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9405937" y="426720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Freeze an approved requirement set as an immutable milestone snapshot for ASPICE audits.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1" name="Google Shape;261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533525" y="2733675"/>
            <a:ext cx="4095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38650" y="2733675"/>
            <a:ext cx="4095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405687" y="2733675"/>
            <a:ext cx="2857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248900" y="2733675"/>
            <a:ext cx="4095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5"/>
          <p:cNvSpPr txBox="1"/>
          <p:nvPr/>
        </p:nvSpPr>
        <p:spPr>
          <a:xfrm>
            <a:off x="190500" y="762000"/>
            <a:ext cx="1181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1E293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Collaboration &amp; User Experience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 txBox="1"/>
          <p:nvPr/>
        </p:nvSpPr>
        <p:spPr>
          <a:xfrm>
            <a:off x="3705225" y="1485900"/>
            <a:ext cx="478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ENHANCING TEAM VISIBILITY AND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582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240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095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752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632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6"/>
          <p:cNvSpPr txBox="1"/>
          <p:nvPr/>
        </p:nvSpPr>
        <p:spPr>
          <a:xfrm>
            <a:off x="3598139" y="3867150"/>
            <a:ext cx="2200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277B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Multi-Agent Orchestrator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3650527" y="4514850"/>
            <a:ext cx="20955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thin dispatcher routing each process to specialized agents instead of one linear 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9" name="Google Shape;27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4145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6"/>
          <p:cNvSpPr txBox="1"/>
          <p:nvPr/>
        </p:nvSpPr>
        <p:spPr>
          <a:xfrm>
            <a:off x="6718291" y="3867150"/>
            <a:ext cx="177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527A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LLM Audit Trail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6"/>
          <p:cNvSpPr txBox="1"/>
          <p:nvPr/>
        </p:nvSpPr>
        <p:spPr>
          <a:xfrm>
            <a:off x="6555652" y="426720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Persist model version, prompt hash, and confidence scores for every call, not just the final verdict.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2" name="Google Shape;282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17302" y="2733675"/>
            <a:ext cx="3619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41477" y="273367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6"/>
          <p:cNvSpPr txBox="1"/>
          <p:nvPr/>
        </p:nvSpPr>
        <p:spPr>
          <a:xfrm>
            <a:off x="190500" y="762000"/>
            <a:ext cx="1181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1E293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Enterprise Governance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"/>
          <p:cNvSpPr txBox="1"/>
          <p:nvPr/>
        </p:nvSpPr>
        <p:spPr>
          <a:xfrm>
            <a:off x="3481387" y="1485900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AUDITABILITY AND INFRASTRUCTURE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"/>
          <p:cNvSpPr txBox="1"/>
          <p:nvPr/>
        </p:nvSpPr>
        <p:spPr>
          <a:xfrm>
            <a:off x="0" y="2719318"/>
            <a:ext cx="121920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Thank you</a:t>
            </a:r>
            <a:endParaRPr b="1" i="0" sz="7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2" name="Google Shape;2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25" y="140000"/>
            <a:ext cx="2769412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2892" y="0"/>
            <a:ext cx="1007385" cy="8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