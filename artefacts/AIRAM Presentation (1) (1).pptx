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embeddedFontLst>
    <p:embeddedFont>
      <p:font typeface="Mate"/>
      <p:regular r:id="rId17"/>
      <p:italic r:id="rId18"/>
    </p:embeddedFont>
    <p:embeddedFont>
      <p:font typeface="Plus Jakarta Sans ExtraBold"/>
      <p:bold r:id="rId19"/>
      <p:boldItalic r:id="rId20"/>
    </p:embeddedFont>
    <p:embeddedFont>
      <p:font typeface="Inter SemiBold"/>
      <p:regular r:id="rId21"/>
      <p:bold r:id="rId22"/>
      <p:italic r:id="rId23"/>
      <p:boldItalic r:id="rId24"/>
    </p:embeddedFont>
    <p:embeddedFont>
      <p:font typeface="Inter"/>
      <p:regular r:id="rId25"/>
      <p:bold r:id="rId26"/>
      <p:italic r:id="rId27"/>
      <p:boldItalic r:id="rId28"/>
    </p:embeddedFont>
    <p:embeddedFont>
      <p:font typeface="Plus Jakarta Sans"/>
      <p:regular r:id="rId29"/>
      <p:bold r:id="rId30"/>
      <p:italic r:id="rId31"/>
      <p:boldItalic r:id="rId32"/>
    </p:embeddedFont>
    <p:embeddedFont>
      <p:font typeface="Plus Jakarta Sans SemiBold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lusJakarta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usJakartaSans-italic.fntdata"/><Relationship Id="rId30" Type="http://schemas.openxmlformats.org/officeDocument/2006/relationships/font" Target="fonts/PlusJakartaSans-bold.fntdata"/><Relationship Id="rId11" Type="http://schemas.openxmlformats.org/officeDocument/2006/relationships/slide" Target="slides/slide6.xml"/><Relationship Id="rId33" Type="http://schemas.openxmlformats.org/officeDocument/2006/relationships/font" Target="fonts/PlusJakartaSansSemiBold-regular.fntdata"/><Relationship Id="rId10" Type="http://schemas.openxmlformats.org/officeDocument/2006/relationships/slide" Target="slides/slide5.xml"/><Relationship Id="rId32" Type="http://schemas.openxmlformats.org/officeDocument/2006/relationships/font" Target="fonts/PlusJakartaSans-boldItalic.fntdata"/><Relationship Id="rId13" Type="http://schemas.openxmlformats.org/officeDocument/2006/relationships/slide" Target="slides/slide8.xml"/><Relationship Id="rId35" Type="http://schemas.openxmlformats.org/officeDocument/2006/relationships/font" Target="fonts/PlusJakartaSansSemiBold-italic.fntdata"/><Relationship Id="rId12" Type="http://schemas.openxmlformats.org/officeDocument/2006/relationships/slide" Target="slides/slide7.xml"/><Relationship Id="rId34" Type="http://schemas.openxmlformats.org/officeDocument/2006/relationships/font" Target="fonts/PlusJakartaSansSemiBold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PlusJakartaSansSemiBold-boldItalic.fntdata"/><Relationship Id="rId17" Type="http://schemas.openxmlformats.org/officeDocument/2006/relationships/font" Target="fonts/Mate-regular.fntdata"/><Relationship Id="rId16" Type="http://schemas.openxmlformats.org/officeDocument/2006/relationships/slide" Target="slides/slide11.xml"/><Relationship Id="rId19" Type="http://schemas.openxmlformats.org/officeDocument/2006/relationships/font" Target="fonts/PlusJakartaSansExtraBold-bold.fntdata"/><Relationship Id="rId18" Type="http://schemas.openxmlformats.org/officeDocument/2006/relationships/font" Target="fonts/Mate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7" name="Google Shape;18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5668ef44d_8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g3f5668ef44d_8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5668ef44d_8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g3f5668ef44d_8_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5668ef44d_8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g3f5668ef44d_8_6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2.png"/><Relationship Id="rId11" Type="http://schemas.openxmlformats.org/officeDocument/2006/relationships/image" Target="../media/image6.png"/><Relationship Id="rId10" Type="http://schemas.openxmlformats.org/officeDocument/2006/relationships/image" Target="../media/image11.png"/><Relationship Id="rId9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10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8.png"/><Relationship Id="rId5" Type="http://schemas.openxmlformats.org/officeDocument/2006/relationships/image" Target="../media/image1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44.png"/><Relationship Id="rId6" Type="http://schemas.openxmlformats.org/officeDocument/2006/relationships/image" Target="../media/image46.png"/><Relationship Id="rId7" Type="http://schemas.openxmlformats.org/officeDocument/2006/relationships/image" Target="../media/image3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34.png"/><Relationship Id="rId10" Type="http://schemas.openxmlformats.org/officeDocument/2006/relationships/image" Target="../media/image32.png"/><Relationship Id="rId13" Type="http://schemas.openxmlformats.org/officeDocument/2006/relationships/image" Target="../media/image35.png"/><Relationship Id="rId1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26.png"/><Relationship Id="rId9" Type="http://schemas.openxmlformats.org/officeDocument/2006/relationships/image" Target="../media/image29.png"/><Relationship Id="rId15" Type="http://schemas.openxmlformats.org/officeDocument/2006/relationships/image" Target="../media/image31.png"/><Relationship Id="rId14" Type="http://schemas.openxmlformats.org/officeDocument/2006/relationships/image" Target="../media/image40.png"/><Relationship Id="rId17" Type="http://schemas.openxmlformats.org/officeDocument/2006/relationships/image" Target="../media/image61.png"/><Relationship Id="rId16" Type="http://schemas.openxmlformats.org/officeDocument/2006/relationships/image" Target="../media/image36.png"/><Relationship Id="rId5" Type="http://schemas.openxmlformats.org/officeDocument/2006/relationships/image" Target="../media/image28.png"/><Relationship Id="rId6" Type="http://schemas.openxmlformats.org/officeDocument/2006/relationships/image" Target="../media/image25.png"/><Relationship Id="rId18" Type="http://schemas.openxmlformats.org/officeDocument/2006/relationships/image" Target="../media/image41.png"/><Relationship Id="rId7" Type="http://schemas.openxmlformats.org/officeDocument/2006/relationships/image" Target="../media/image24.png"/><Relationship Id="rId8" Type="http://schemas.openxmlformats.org/officeDocument/2006/relationships/image" Target="../media/image27.png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48.png"/><Relationship Id="rId10" Type="http://schemas.openxmlformats.org/officeDocument/2006/relationships/image" Target="../media/image47.png"/><Relationship Id="rId13" Type="http://schemas.openxmlformats.org/officeDocument/2006/relationships/image" Target="../media/image50.png"/><Relationship Id="rId1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3.png"/><Relationship Id="rId15" Type="http://schemas.openxmlformats.org/officeDocument/2006/relationships/image" Target="../media/image64.png"/><Relationship Id="rId14" Type="http://schemas.openxmlformats.org/officeDocument/2006/relationships/image" Target="../media/image49.png"/><Relationship Id="rId17" Type="http://schemas.openxmlformats.org/officeDocument/2006/relationships/image" Target="../media/image55.png"/><Relationship Id="rId16" Type="http://schemas.openxmlformats.org/officeDocument/2006/relationships/image" Target="../media/image63.png"/><Relationship Id="rId5" Type="http://schemas.openxmlformats.org/officeDocument/2006/relationships/image" Target="../media/image42.png"/><Relationship Id="rId6" Type="http://schemas.openxmlformats.org/officeDocument/2006/relationships/image" Target="../media/image39.png"/><Relationship Id="rId18" Type="http://schemas.openxmlformats.org/officeDocument/2006/relationships/image" Target="../media/image52.png"/><Relationship Id="rId7" Type="http://schemas.openxmlformats.org/officeDocument/2006/relationships/image" Target="../media/image45.png"/><Relationship Id="rId8" Type="http://schemas.openxmlformats.org/officeDocument/2006/relationships/image" Target="../media/image25.png"/></Relationships>
</file>

<file path=ppt/slides/_rels/slide11.xml.rels><?xml version="1.0" encoding="UTF-8" standalone="yes"?><Relationships xmlns="http://schemas.openxmlformats.org/package/2006/relationships"><Relationship Id="rId10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6.png"/><Relationship Id="rId4" Type="http://schemas.openxmlformats.org/officeDocument/2006/relationships/image" Target="../media/image53.png"/><Relationship Id="rId9" Type="http://schemas.openxmlformats.org/officeDocument/2006/relationships/image" Target="../media/image60.png"/><Relationship Id="rId5" Type="http://schemas.openxmlformats.org/officeDocument/2006/relationships/image" Target="../media/image65.png"/><Relationship Id="rId6" Type="http://schemas.openxmlformats.org/officeDocument/2006/relationships/image" Target="../media/image59.png"/><Relationship Id="rId7" Type="http://schemas.openxmlformats.org/officeDocument/2006/relationships/image" Target="../media/image54.png"/><Relationship Id="rId8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3090624" y="2350740"/>
            <a:ext cx="60108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3233737" y="3408015"/>
            <a:ext cx="5724525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AI-Assisted Requirement Analysis &amp; Management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233737" y="4059435"/>
            <a:ext cx="5724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prove the resolution" id="87" name="Google Shape;8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7903" y="2220657"/>
            <a:ext cx="1157635" cy="106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25" y="140000"/>
            <a:ext cx="2769412" cy="8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5715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Use </a:t>
            </a:r>
            <a:r>
              <a:rPr b="1" i="0" lang="en-US" sz="31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Case</a:t>
            </a:r>
            <a:endParaRPr b="1" i="0" sz="31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1238250"/>
            <a:ext cx="11049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80"/>
              <a:buFont typeface="Arial"/>
              <a:buNone/>
            </a:pPr>
            <a:r>
              <a:rPr b="0" i="0" lang="en-US" sz="148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Manual validation of  automotive requirements against standards like ASPICE and ISO 26262 introduces severe bottlenecks:</a:t>
            </a:r>
            <a:endParaRPr b="0" i="0" sz="1480" u="none" cap="none" strike="noStrike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6" name="Google Shape;96;p14"/>
          <p:cNvGrpSpPr/>
          <p:nvPr/>
        </p:nvGrpSpPr>
        <p:grpSpPr>
          <a:xfrm>
            <a:off x="571500" y="2000250"/>
            <a:ext cx="3429000" cy="3905400"/>
            <a:chOff x="0" y="0"/>
            <a:chExt cx="3429000" cy="3905400"/>
          </a:xfrm>
        </p:grpSpPr>
        <p:sp>
          <p:nvSpPr>
            <p:cNvPr id="97" name="Google Shape;97;p14"/>
            <p:cNvSpPr/>
            <p:nvPr/>
          </p:nvSpPr>
          <p:spPr>
            <a:xfrm>
              <a:off x="0" y="0"/>
              <a:ext cx="3429000" cy="39054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14"/>
            <p:cNvSpPr/>
            <p:nvPr/>
          </p:nvSpPr>
          <p:spPr>
            <a:xfrm>
              <a:off x="285750" y="285750"/>
              <a:ext cx="533400" cy="533400"/>
            </a:xfrm>
            <a:prstGeom prst="roundRect">
              <a:avLst>
                <a:gd fmla="val 21428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14"/>
            <p:cNvSpPr txBox="1"/>
            <p:nvPr/>
          </p:nvSpPr>
          <p:spPr>
            <a:xfrm>
              <a:off x="285750" y="320802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>
                  <a:solidFill>
                    <a:srgbClr val="EF4444"/>
                  </a:solidFill>
                  <a:latin typeface="Mate"/>
                  <a:ea typeface="Mate"/>
                  <a:cs typeface="Mate"/>
                  <a:sym typeface="Mate"/>
                </a:rPr>
                <a:t>1.</a:t>
              </a:r>
              <a:endParaRPr b="0" i="0" sz="2400" u="none" cap="none" strike="noStrike">
                <a:solidFill>
                  <a:srgbClr val="EF4444"/>
                </a:solidFill>
                <a:latin typeface="Mate"/>
                <a:ea typeface="Mate"/>
                <a:cs typeface="Mate"/>
                <a:sym typeface="Mate"/>
              </a:endParaRPr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285750" y="1047750"/>
              <a:ext cx="28575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Time-Consuming</a:t>
              </a:r>
              <a:endParaRPr b="1" i="0" sz="2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-US" sz="1350" u="none" cap="none" strike="noStrike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Evaluating complex standard requirements manually demands massive engineering hours, severely delaying product time-to-market.</a:t>
              </a:r>
              <a:endParaRPr b="0" i="0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4381500" y="2000250"/>
            <a:ext cx="3429000" cy="3905400"/>
            <a:chOff x="0" y="0"/>
            <a:chExt cx="3429000" cy="3905400"/>
          </a:xfrm>
        </p:grpSpPr>
        <p:sp>
          <p:nvSpPr>
            <p:cNvPr id="102" name="Google Shape;102;p14"/>
            <p:cNvSpPr/>
            <p:nvPr/>
          </p:nvSpPr>
          <p:spPr>
            <a:xfrm>
              <a:off x="0" y="0"/>
              <a:ext cx="3429000" cy="39054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285750" y="285750"/>
              <a:ext cx="533400" cy="533400"/>
            </a:xfrm>
            <a:prstGeom prst="roundRect">
              <a:avLst>
                <a:gd fmla="val 21428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285750" y="320802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>
                  <a:solidFill>
                    <a:srgbClr val="EF4444"/>
                  </a:solidFill>
                  <a:latin typeface="Mate"/>
                  <a:ea typeface="Mate"/>
                  <a:cs typeface="Mate"/>
                  <a:sym typeface="Mate"/>
                </a:rPr>
                <a:t>2.</a:t>
              </a:r>
              <a:endParaRPr b="0" i="0" sz="2400" u="none" cap="none" strike="noStrike">
                <a:solidFill>
                  <a:srgbClr val="EF4444"/>
                </a:solidFill>
                <a:latin typeface="Mate"/>
                <a:ea typeface="Mate"/>
                <a:cs typeface="Mate"/>
                <a:sym typeface="Mate"/>
              </a:endParaRPr>
            </a:p>
          </p:txBody>
        </p:sp>
        <p:sp>
          <p:nvSpPr>
            <p:cNvPr id="105" name="Google Shape;105;p14"/>
            <p:cNvSpPr txBox="1"/>
            <p:nvPr/>
          </p:nvSpPr>
          <p:spPr>
            <a:xfrm>
              <a:off x="285750" y="1047750"/>
              <a:ext cx="28575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Prone to Error</a:t>
              </a:r>
              <a:endParaRPr b="1" i="0" sz="2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-US" sz="1350" u="none" cap="none" strike="noStrike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Human review struggles to guarantee total accuracy against dense specifications, increasing safety-critical compliance risks.</a:t>
              </a:r>
              <a:endParaRPr b="0" i="0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6" name="Google Shape;106;p14"/>
          <p:cNvGrpSpPr/>
          <p:nvPr/>
        </p:nvGrpSpPr>
        <p:grpSpPr>
          <a:xfrm>
            <a:off x="8191500" y="2000250"/>
            <a:ext cx="3429000" cy="3905400"/>
            <a:chOff x="0" y="0"/>
            <a:chExt cx="3429000" cy="3905400"/>
          </a:xfrm>
        </p:grpSpPr>
        <p:sp>
          <p:nvSpPr>
            <p:cNvPr id="107" name="Google Shape;107;p14"/>
            <p:cNvSpPr/>
            <p:nvPr/>
          </p:nvSpPr>
          <p:spPr>
            <a:xfrm>
              <a:off x="0" y="0"/>
              <a:ext cx="3429000" cy="39054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14"/>
            <p:cNvSpPr/>
            <p:nvPr/>
          </p:nvSpPr>
          <p:spPr>
            <a:xfrm>
              <a:off x="285750" y="285750"/>
              <a:ext cx="533400" cy="533400"/>
            </a:xfrm>
            <a:prstGeom prst="roundRect">
              <a:avLst>
                <a:gd fmla="val 21428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14"/>
            <p:cNvSpPr txBox="1"/>
            <p:nvPr/>
          </p:nvSpPr>
          <p:spPr>
            <a:xfrm>
              <a:off x="285750" y="320802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>
                  <a:solidFill>
                    <a:srgbClr val="EF4444"/>
                  </a:solidFill>
                  <a:latin typeface="Mate"/>
                  <a:ea typeface="Mate"/>
                  <a:cs typeface="Mate"/>
                  <a:sym typeface="Mate"/>
                </a:rPr>
                <a:t>3.</a:t>
              </a:r>
              <a:endParaRPr sz="2400">
                <a:solidFill>
                  <a:srgbClr val="EF4444"/>
                </a:solidFill>
                <a:latin typeface="Mate"/>
                <a:ea typeface="Mate"/>
                <a:cs typeface="Mate"/>
                <a:sym typeface="Mate"/>
              </a:endParaRPr>
            </a:p>
          </p:txBody>
        </p:sp>
        <p:sp>
          <p:nvSpPr>
            <p:cNvPr id="110" name="Google Shape;110;p14"/>
            <p:cNvSpPr txBox="1"/>
            <p:nvPr/>
          </p:nvSpPr>
          <p:spPr>
            <a:xfrm>
              <a:off x="285750" y="1047750"/>
              <a:ext cx="28575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Highly Inconsistent</a:t>
              </a:r>
              <a:endParaRPr b="1" i="0" sz="2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-US" sz="1350" u="none" cap="none" strike="noStrike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Validation outcomes and syntax reviews lack uniformity, varying widely between isolated engineering teams.</a:t>
              </a:r>
              <a:endParaRPr b="0" i="0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11" name="Google Shape;111;p14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" name="Google Shape;11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838325"/>
            <a:ext cx="3429000" cy="4067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1500" y="1838325"/>
            <a:ext cx="3429000" cy="4067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91500" y="1838325"/>
            <a:ext cx="3429000" cy="4067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228850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866775" y="3067050"/>
            <a:ext cx="172755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Quality Audit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866775" y="3543300"/>
            <a:ext cx="283845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Automates the evaluation of requirements against stringent INCOSE guidelines and EARS syntax using advanced LLMs, ensuring immediate compliance detection.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2" name="Google Shape;12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76775" y="2228850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4676775" y="3067050"/>
            <a:ext cx="223637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Auto-Correction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4676775" y="3543300"/>
            <a:ext cx="28386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Automatically corrects invalid requirements and splits complex ones into single, easy-to-test statements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86775" y="2228850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486775" y="3067050"/>
            <a:ext cx="1503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Traceability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8486775" y="3543300"/>
            <a:ext cx="283845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Performs semantic matching to ensure bidirectional coverage between High-Level (SWE.1) and Low-Level (SWE.2) requirements, instantly flagging orphans.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8" name="Google Shape;128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57275" y="2381250"/>
            <a:ext cx="228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810125" y="2381250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601075" y="2381250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5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AIRAM Solution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6"/>
          <p:cNvSpPr txBox="1"/>
          <p:nvPr/>
        </p:nvSpPr>
        <p:spPr>
          <a:xfrm>
            <a:off x="571500" y="571500"/>
            <a:ext cx="5550693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Capability: </a:t>
            </a:r>
            <a:r>
              <a:rPr b="1" i="0" lang="en-US" sz="3150" u="none" cap="none" strike="noStrik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Quality Auditor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571500" y="2314575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core evaluation engine audits individual software requirements against strict engineering guidelines with unprecedented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571500" y="3419475"/>
            <a:ext cx="52863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It supports intelligent RAG retrieval, strict JSON rule enforcement, and custom evaluation contexts to deliver precise PASS/REVIEW verdicts with detailed, structured rationale.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571500" y="4829175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 secondary LLM recheck mechanism ensures subtle violations missed in the first pass are captured, guaranteeing assessment rigor.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" name="Google Shape;141;p16"/>
          <p:cNvPicPr preferRelativeResize="0"/>
          <p:nvPr/>
        </p:nvPicPr>
        <p:blipFill rotWithShape="1">
          <a:blip r:embed="rId3">
            <a:alphaModFix/>
          </a:blip>
          <a:srcRect b="0" l="-2447" r="5744" t="0"/>
          <a:stretch/>
        </p:blipFill>
        <p:spPr>
          <a:xfrm>
            <a:off x="5458526" y="106136"/>
            <a:ext cx="6722000" cy="6526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/>
          <p:nvPr/>
        </p:nvSpPr>
        <p:spPr>
          <a:xfrm>
            <a:off x="704850" y="196691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809625" y="1966912"/>
            <a:ext cx="50006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Evaluates bidirectional tracing compliance between High-Level (SWE.1) and Low-Level (SWE.2) requirements effortlessly.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704850" y="307181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809625" y="3071812"/>
            <a:ext cx="50006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Utilizes Large Language Model semantic matching to accurately identify valid requirement links, going beyond simple keyword searches.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04850" y="417671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4176712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Automatically flags orphaned SWE.2 requirements lacking parent HLR coverage to prevent scope creep.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704850" y="497681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809625" y="4976812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Processes large datasets efficiently with intelligent context window management and batch execution.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71500" y="571500"/>
            <a:ext cx="116016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Capability: Traceability</a:t>
            </a:r>
            <a:endParaRPr b="1" i="0" sz="31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Analyzer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80499" y="694225"/>
            <a:ext cx="5924625" cy="562410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7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09825"/>
            <a:ext cx="5238750" cy="2924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2409825"/>
            <a:ext cx="5238750" cy="2924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962025" y="2800350"/>
            <a:ext cx="4680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284C7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Intelligent Ingestion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962025" y="3276600"/>
            <a:ext cx="44577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Progressively parses and intelligently chunks complex documentation including PDFs, Excel sheets, CSVs, JSON, and TXT files. It leverages cutting-edge extraction models to embed data into a highly scalable Qdrant vector database.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6772275" y="2800350"/>
            <a:ext cx="4680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284C7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Semantic Retrieval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6772275" y="3276600"/>
            <a:ext cx="44577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Provides highly relevant engineering guidelines as direct context for LLM audits. This ensures that automated compliance checks are deeply rooted in your organization's specific standards, rather than generic AI knowledge.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Advanced Knowledge (RAG) Engine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5" name="Google Shape;17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2286000" y="2195512"/>
            <a:ext cx="8096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Frontend Framework: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Angular 22 framework with TypeScript, utilizing a clean, component-based architecture and real-time SSE streaming for long-running processes.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2286000" y="3033712"/>
            <a:ext cx="8096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Backend Architecture: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High-performance FastAPI application written in Python 3.10+, backed by an embedded SQLite database (with Postgres readiness for cloud).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2286000" y="3871912"/>
            <a:ext cx="8096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AI &amp; Foundation Models: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Powered by the NVIDIA NIM API, utilizing the state-of-the-art Llama 3.3 Nemotron 49B model and nv-e5-v5 for highly accurate embeddings.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2286000" y="4710112"/>
            <a:ext cx="8096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Vector Storage: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Integrates seamlessly with Qdrant Cloud for robust semantic search, context retrieval, and fast document metadata filtering.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0" name="Google Shape;18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22408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09750" y="306228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809750" y="390048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09750" y="4738687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Technology Stack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9" name="Google Shape;18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33587"/>
            <a:ext cx="3429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1500" y="2033587"/>
            <a:ext cx="3429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571500" y="4548187"/>
            <a:ext cx="3600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Dashboard 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571500" y="4957762"/>
            <a:ext cx="342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Track compliance trends and execution history.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4381500" y="4548187"/>
            <a:ext cx="3600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Evaluation Workspace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4381500" y="4957762"/>
            <a:ext cx="342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Upload files and control real-time analysis execution.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8944282" y="4554487"/>
            <a:ext cx="360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Knowledge Config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8913550" y="4962412"/>
            <a:ext cx="3429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Manage standards and evaluate semantic retrieval.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Platform Interface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20"/>
          <p:cNvPicPr preferRelativeResize="0"/>
          <p:nvPr/>
        </p:nvPicPr>
        <p:blipFill rotWithShape="1">
          <a:blip r:embed="rId5">
            <a:alphaModFix/>
          </a:blip>
          <a:srcRect b="0" l="0" r="7544" t="0"/>
          <a:stretch/>
        </p:blipFill>
        <p:spPr>
          <a:xfrm>
            <a:off x="121392" y="1912163"/>
            <a:ext cx="4065278" cy="238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/>
          <p:cNvPicPr preferRelativeResize="0"/>
          <p:nvPr/>
        </p:nvPicPr>
        <p:blipFill rotWithShape="1">
          <a:blip r:embed="rId6">
            <a:alphaModFix/>
          </a:blip>
          <a:srcRect b="0" l="0" r="4862" t="0"/>
          <a:stretch/>
        </p:blipFill>
        <p:spPr>
          <a:xfrm>
            <a:off x="4381500" y="2035171"/>
            <a:ext cx="4065277" cy="2340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34052" y="2109640"/>
            <a:ext cx="3440422" cy="2034536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0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5862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437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90987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7562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96112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62687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901237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167812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1524000" y="2914650"/>
            <a:ext cx="9144000" cy="573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5" name="Google Shape;215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376362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1"/>
          <p:cNvSpPr txBox="1"/>
          <p:nvPr/>
        </p:nvSpPr>
        <p:spPr>
          <a:xfrm>
            <a:off x="708183" y="3867150"/>
            <a:ext cx="2060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E7D3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Test Case Generation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>
            <a:off x="690562" y="4267200"/>
            <a:ext cx="20955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Auto-draft verification tests (SWE.4–6) linked directly back to the source requirement ID.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8" name="Google Shape;218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281487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1"/>
          <p:cNvSpPr txBox="1"/>
          <p:nvPr/>
        </p:nvSpPr>
        <p:spPr>
          <a:xfrm>
            <a:off x="3543300" y="3867150"/>
            <a:ext cx="22002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6282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Change-Impact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3595687" y="451485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Instantly flags when downstream SWE.2s and test cases go stale due to an SWE.1 edit.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1" name="Google Shape;221;p2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186612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6573440" y="3867150"/>
            <a:ext cx="19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651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Diagram Generation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6500812" y="426720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Automatically draft sequence, class, and state diagrams (Mermaid) from requirements sets.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4" name="Google Shape;224;p2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091737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1"/>
          <p:cNvSpPr txBox="1"/>
          <p:nvPr/>
        </p:nvSpPr>
        <p:spPr>
          <a:xfrm>
            <a:off x="9418558" y="3867150"/>
            <a:ext cx="207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277B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Diagram Consistency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1"/>
          <p:cNvSpPr txBox="1"/>
          <p:nvPr/>
        </p:nvSpPr>
        <p:spPr>
          <a:xfrm>
            <a:off x="9405937" y="426720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Parses diagram elements visually and flags missing gaps or orphans against requirements.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7" name="Google Shape;227;p21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576387" y="2733675"/>
            <a:ext cx="3238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1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4438650" y="2733675"/>
            <a:ext cx="4095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7367587" y="2733675"/>
            <a:ext cx="3619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21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0272712" y="2733675"/>
            <a:ext cx="3619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1"/>
          <p:cNvSpPr txBox="1"/>
          <p:nvPr/>
        </p:nvSpPr>
        <p:spPr>
          <a:xfrm>
            <a:off x="190500" y="762000"/>
            <a:ext cx="11811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293B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Agentic Workflows &amp; Traceability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1"/>
          <p:cNvSpPr txBox="1"/>
          <p:nvPr/>
        </p:nvSpPr>
        <p:spPr>
          <a:xfrm>
            <a:off x="3895725" y="1485900"/>
            <a:ext cx="4400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EXPANDING THE V-CYCLE AUTOMATION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1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5862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437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90987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7562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96112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62687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901237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167812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/>
          <p:nvPr/>
        </p:nvSpPr>
        <p:spPr>
          <a:xfrm>
            <a:off x="1524000" y="2914650"/>
            <a:ext cx="9144000" cy="573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7" name="Google Shape;247;p2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376362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2"/>
          <p:cNvSpPr txBox="1"/>
          <p:nvPr/>
        </p:nvSpPr>
        <p:spPr>
          <a:xfrm>
            <a:off x="638175" y="3867150"/>
            <a:ext cx="22002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4527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Role-Based Dashboards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2"/>
          <p:cNvSpPr txBox="1"/>
          <p:nvPr/>
        </p:nvSpPr>
        <p:spPr>
          <a:xfrm>
            <a:off x="690562" y="4514850"/>
            <a:ext cx="20955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Separate, tailored views and controls for Authors, Reviewers, and Team Leads.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0" name="Google Shape;250;p2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281487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2"/>
          <p:cNvSpPr txBox="1"/>
          <p:nvPr/>
        </p:nvSpPr>
        <p:spPr>
          <a:xfrm>
            <a:off x="3543300" y="3867150"/>
            <a:ext cx="2200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2E7D3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Chatbot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3595687" y="451485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Chat interface to </a:t>
            </a:r>
            <a:r>
              <a:rPr lang="en-US" sz="112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properly communicate </a:t>
            </a: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"Which SWE.2s cover the trigger?" instead of filtering complex tables.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3" name="Google Shape;253;p2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186612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2"/>
          <p:cNvSpPr txBox="1"/>
          <p:nvPr/>
        </p:nvSpPr>
        <p:spPr>
          <a:xfrm>
            <a:off x="6578441" y="3867150"/>
            <a:ext cx="194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6282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Teams / Slack Alerts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2"/>
          <p:cNvSpPr txBox="1"/>
          <p:nvPr/>
        </p:nvSpPr>
        <p:spPr>
          <a:xfrm>
            <a:off x="6500812" y="426720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Send instant notifications to the requirement owner the moment a row flips to REVIEW status.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22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091737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2"/>
          <p:cNvSpPr txBox="1"/>
          <p:nvPr/>
        </p:nvSpPr>
        <p:spPr>
          <a:xfrm>
            <a:off x="9513570" y="3867150"/>
            <a:ext cx="188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651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Baseline Versioning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2"/>
          <p:cNvSpPr txBox="1"/>
          <p:nvPr/>
        </p:nvSpPr>
        <p:spPr>
          <a:xfrm>
            <a:off x="9405937" y="426720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Freeze an approved requirement set as an immutable milestone snapshot for ASPICE audits.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9" name="Google Shape;259;p22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533525" y="2733675"/>
            <a:ext cx="4095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2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4438650" y="2733675"/>
            <a:ext cx="4095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2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7405687" y="2733675"/>
            <a:ext cx="2857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2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0248900" y="2733675"/>
            <a:ext cx="409575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2"/>
          <p:cNvSpPr txBox="1"/>
          <p:nvPr/>
        </p:nvSpPr>
        <p:spPr>
          <a:xfrm>
            <a:off x="190500" y="762000"/>
            <a:ext cx="11811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293B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Collaboration &amp; User Experience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2"/>
          <p:cNvSpPr txBox="1"/>
          <p:nvPr/>
        </p:nvSpPr>
        <p:spPr>
          <a:xfrm>
            <a:off x="3705225" y="1485900"/>
            <a:ext cx="4781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ENHANCING TEAM VISIBILITY AND ACCESS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2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5827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12402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2" name="Google Shape;27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50952" y="2457450"/>
            <a:ext cx="1104900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7527" y="3571875"/>
            <a:ext cx="25717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36327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3"/>
          <p:cNvSpPr txBox="1"/>
          <p:nvPr/>
        </p:nvSpPr>
        <p:spPr>
          <a:xfrm>
            <a:off x="3598139" y="3867150"/>
            <a:ext cx="22002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277B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Multi-Agent Orchestrator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3"/>
          <p:cNvSpPr txBox="1"/>
          <p:nvPr/>
        </p:nvSpPr>
        <p:spPr>
          <a:xfrm>
            <a:off x="3650527" y="451485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 thin dispatcher routing each requirement row to specialized agents instead of one linear script.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7" name="Google Shape;277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241452" y="2533650"/>
            <a:ext cx="723900" cy="7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3"/>
          <p:cNvSpPr txBox="1"/>
          <p:nvPr/>
        </p:nvSpPr>
        <p:spPr>
          <a:xfrm>
            <a:off x="6718291" y="3867150"/>
            <a:ext cx="177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4527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Full LLM Audit Trail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555652" y="4267200"/>
            <a:ext cx="20955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Persist model version, prompt hash, and confidence scores for every call, not just the final verdict.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0" name="Google Shape;280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17302" y="2733675"/>
            <a:ext cx="3619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441477" y="2733675"/>
            <a:ext cx="3238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3"/>
          <p:cNvSpPr txBox="1"/>
          <p:nvPr/>
        </p:nvSpPr>
        <p:spPr>
          <a:xfrm>
            <a:off x="190500" y="762000"/>
            <a:ext cx="11811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293B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Enterprise Governance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3481387" y="1485900"/>
            <a:ext cx="5229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AUDITABILITY AND INFRASTRUCTURE SCALING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3"/>
          <p:cNvSpPr txBox="1"/>
          <p:nvPr/>
        </p:nvSpPr>
        <p:spPr>
          <a:xfrm>
            <a:off x="10629900" y="6457950"/>
            <a:ext cx="1181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TCS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