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6858000" cx="12192000"/>
  <p:notesSz cx="6858000" cy="9144000"/>
  <p:embeddedFontLst>
    <p:embeddedFont>
      <p:font typeface="Mate"/>
      <p:regular r:id="rId18"/>
      <p:italic r:id="rId19"/>
    </p:embeddedFont>
    <p:embeddedFont>
      <p:font typeface="Plus Jakarta Sans ExtraBold"/>
      <p:bold r:id="rId20"/>
      <p:boldItalic r:id="rId21"/>
    </p:embeddedFont>
    <p:embeddedFont>
      <p:font typeface="Inter SemiBold"/>
      <p:regular r:id="rId22"/>
      <p:bold r:id="rId23"/>
      <p:italic r:id="rId24"/>
      <p:boldItalic r:id="rId25"/>
    </p:embeddedFont>
    <p:embeddedFont>
      <p:font typeface="Inter"/>
      <p:regular r:id="rId26"/>
      <p:bold r:id="rId27"/>
      <p:italic r:id="rId28"/>
      <p:boldItalic r:id="rId29"/>
    </p:embeddedFont>
    <p:embeddedFont>
      <p:font typeface="Plus Jakarta Sans"/>
      <p:regular r:id="rId30"/>
      <p:bold r:id="rId31"/>
      <p:italic r:id="rId32"/>
      <p:boldItalic r:id="rId33"/>
    </p:embeddedFont>
    <p:embeddedFont>
      <p:font typeface="Plus Jakarta Sans SemiBold"/>
      <p:regular r:id="rId34"/>
      <p:bold r:id="rId35"/>
      <p:italic r:id="rId36"/>
      <p:boldItalic r:id="rId37"/>
    </p:embeddedFont>
    <p:embeddedFont>
      <p:font typeface="Lexend"/>
      <p:regular r:id="rId38"/>
      <p:bold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lusJakartaSansExtraBold-bold.fntdata"/><Relationship Id="rId22" Type="http://schemas.openxmlformats.org/officeDocument/2006/relationships/font" Target="fonts/InterSemiBold-regular.fntdata"/><Relationship Id="rId21" Type="http://schemas.openxmlformats.org/officeDocument/2006/relationships/font" Target="fonts/PlusJakartaSansExtraBold-boldItalic.fntdata"/><Relationship Id="rId24" Type="http://schemas.openxmlformats.org/officeDocument/2006/relationships/font" Target="fonts/InterSemiBold-italic.fntdata"/><Relationship Id="rId23" Type="http://schemas.openxmlformats.org/officeDocument/2006/relationships/font" Target="fonts/InterSemiBold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Inter-regular.fntdata"/><Relationship Id="rId25" Type="http://schemas.openxmlformats.org/officeDocument/2006/relationships/font" Target="fonts/InterSemiBold-boldItalic.fntdata"/><Relationship Id="rId28" Type="http://schemas.openxmlformats.org/officeDocument/2006/relationships/font" Target="fonts/Inter-italic.fntdata"/><Relationship Id="rId27" Type="http://schemas.openxmlformats.org/officeDocument/2006/relationships/font" Target="fonts/Inter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Inter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PlusJakartaSans-bold.fntdata"/><Relationship Id="rId30" Type="http://schemas.openxmlformats.org/officeDocument/2006/relationships/font" Target="fonts/PlusJakartaSans-regular.fntdata"/><Relationship Id="rId11" Type="http://schemas.openxmlformats.org/officeDocument/2006/relationships/slide" Target="slides/slide6.xml"/><Relationship Id="rId33" Type="http://schemas.openxmlformats.org/officeDocument/2006/relationships/font" Target="fonts/PlusJakartaSans-boldItalic.fntdata"/><Relationship Id="rId10" Type="http://schemas.openxmlformats.org/officeDocument/2006/relationships/slide" Target="slides/slide5.xml"/><Relationship Id="rId32" Type="http://schemas.openxmlformats.org/officeDocument/2006/relationships/font" Target="fonts/PlusJakartaSans-italic.fntdata"/><Relationship Id="rId13" Type="http://schemas.openxmlformats.org/officeDocument/2006/relationships/slide" Target="slides/slide8.xml"/><Relationship Id="rId35" Type="http://schemas.openxmlformats.org/officeDocument/2006/relationships/font" Target="fonts/PlusJakartaSansSemiBold-bold.fntdata"/><Relationship Id="rId12" Type="http://schemas.openxmlformats.org/officeDocument/2006/relationships/slide" Target="slides/slide7.xml"/><Relationship Id="rId34" Type="http://schemas.openxmlformats.org/officeDocument/2006/relationships/font" Target="fonts/PlusJakartaSansSemiBold-regular.fntdata"/><Relationship Id="rId15" Type="http://schemas.openxmlformats.org/officeDocument/2006/relationships/slide" Target="slides/slide10.xml"/><Relationship Id="rId37" Type="http://schemas.openxmlformats.org/officeDocument/2006/relationships/font" Target="fonts/PlusJakartaSansSemiBold-boldItalic.fntdata"/><Relationship Id="rId14" Type="http://schemas.openxmlformats.org/officeDocument/2006/relationships/slide" Target="slides/slide9.xml"/><Relationship Id="rId36" Type="http://schemas.openxmlformats.org/officeDocument/2006/relationships/font" Target="fonts/PlusJakartaSansSemiBold-italic.fntdata"/><Relationship Id="rId17" Type="http://schemas.openxmlformats.org/officeDocument/2006/relationships/slide" Target="slides/slide12.xml"/><Relationship Id="rId39" Type="http://schemas.openxmlformats.org/officeDocument/2006/relationships/font" Target="fonts/Lexend-bold.fntdata"/><Relationship Id="rId16" Type="http://schemas.openxmlformats.org/officeDocument/2006/relationships/slide" Target="slides/slide11.xml"/><Relationship Id="rId38" Type="http://schemas.openxmlformats.org/officeDocument/2006/relationships/font" Target="fonts/Lexend-regular.fntdata"/><Relationship Id="rId19" Type="http://schemas.openxmlformats.org/officeDocument/2006/relationships/font" Target="fonts/Mate-italic.fntdata"/><Relationship Id="rId18" Type="http://schemas.openxmlformats.org/officeDocument/2006/relationships/font" Target="fonts/Mate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4" name="Google Shape;11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f5668ef44d_8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5" name="Google Shape;135;g3f5668ef44d_8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f5668ef44d_8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7" name="Google Shape;167;g3f5668ef44d_8_3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f5668ef44d_8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9" name="Google Shape;199;g3f5668ef44d_8_6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8" name="Google Shape;21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8" name="Google Shape;22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3" name="Google Shape;24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6" name="Google Shape;25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1" name="Google Shape;27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77dd6929a1b2c8eb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77dd6929a1b2c8eb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5.png"/><Relationship Id="rId4" Type="http://schemas.openxmlformats.org/officeDocument/2006/relationships/image" Target="../media/image30.png"/><Relationship Id="rId11" Type="http://schemas.openxmlformats.org/officeDocument/2006/relationships/image" Target="../media/image51.png"/><Relationship Id="rId10" Type="http://schemas.openxmlformats.org/officeDocument/2006/relationships/image" Target="../media/image58.png"/><Relationship Id="rId9" Type="http://schemas.openxmlformats.org/officeDocument/2006/relationships/image" Target="../media/image8.png"/><Relationship Id="rId5" Type="http://schemas.openxmlformats.org/officeDocument/2006/relationships/image" Target="../media/image21.png"/><Relationship Id="rId6" Type="http://schemas.openxmlformats.org/officeDocument/2006/relationships/image" Target="../media/image46.png"/><Relationship Id="rId7" Type="http://schemas.openxmlformats.org/officeDocument/2006/relationships/image" Target="../media/image54.png"/><Relationship Id="rId8" Type="http://schemas.openxmlformats.org/officeDocument/2006/relationships/image" Target="../media/image15.png"/></Relationships>
</file>

<file path=ppt/slides/_rels/slide4.xml.rels><?xml version="1.0" encoding="UTF-8" standalone="yes"?><Relationships xmlns="http://schemas.openxmlformats.org/package/2006/relationships"><Relationship Id="rId11" Type="http://schemas.openxmlformats.org/officeDocument/2006/relationships/image" Target="../media/image9.png"/><Relationship Id="rId10" Type="http://schemas.openxmlformats.org/officeDocument/2006/relationships/image" Target="../media/image17.png"/><Relationship Id="rId13" Type="http://schemas.openxmlformats.org/officeDocument/2006/relationships/image" Target="../media/image11.png"/><Relationship Id="rId12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9" Type="http://schemas.openxmlformats.org/officeDocument/2006/relationships/image" Target="../media/image4.png"/><Relationship Id="rId15" Type="http://schemas.openxmlformats.org/officeDocument/2006/relationships/image" Target="../media/image23.png"/><Relationship Id="rId14" Type="http://schemas.openxmlformats.org/officeDocument/2006/relationships/image" Target="../media/image12.png"/><Relationship Id="rId17" Type="http://schemas.openxmlformats.org/officeDocument/2006/relationships/image" Target="../media/image14.png"/><Relationship Id="rId16" Type="http://schemas.openxmlformats.org/officeDocument/2006/relationships/image" Target="../media/image32.png"/><Relationship Id="rId5" Type="http://schemas.openxmlformats.org/officeDocument/2006/relationships/image" Target="../media/image20.png"/><Relationship Id="rId6" Type="http://schemas.openxmlformats.org/officeDocument/2006/relationships/image" Target="../media/image34.png"/><Relationship Id="rId18" Type="http://schemas.openxmlformats.org/officeDocument/2006/relationships/image" Target="../media/image27.png"/><Relationship Id="rId7" Type="http://schemas.openxmlformats.org/officeDocument/2006/relationships/image" Target="../media/image3.png"/><Relationship Id="rId8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1" Type="http://schemas.openxmlformats.org/officeDocument/2006/relationships/image" Target="../media/image60.png"/><Relationship Id="rId10" Type="http://schemas.openxmlformats.org/officeDocument/2006/relationships/image" Target="../media/image25.png"/><Relationship Id="rId13" Type="http://schemas.openxmlformats.org/officeDocument/2006/relationships/image" Target="../media/image28.png"/><Relationship Id="rId12" Type="http://schemas.openxmlformats.org/officeDocument/2006/relationships/image" Target="../media/image29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8.png"/><Relationship Id="rId4" Type="http://schemas.openxmlformats.org/officeDocument/2006/relationships/image" Target="../media/image13.png"/><Relationship Id="rId9" Type="http://schemas.openxmlformats.org/officeDocument/2006/relationships/image" Target="../media/image26.png"/><Relationship Id="rId15" Type="http://schemas.openxmlformats.org/officeDocument/2006/relationships/image" Target="../media/image31.png"/><Relationship Id="rId14" Type="http://schemas.openxmlformats.org/officeDocument/2006/relationships/image" Target="../media/image33.png"/><Relationship Id="rId17" Type="http://schemas.openxmlformats.org/officeDocument/2006/relationships/image" Target="../media/image39.png"/><Relationship Id="rId16" Type="http://schemas.openxmlformats.org/officeDocument/2006/relationships/image" Target="../media/image53.png"/><Relationship Id="rId5" Type="http://schemas.openxmlformats.org/officeDocument/2006/relationships/image" Target="../media/image16.png"/><Relationship Id="rId6" Type="http://schemas.openxmlformats.org/officeDocument/2006/relationships/image" Target="../media/image19.png"/><Relationship Id="rId18" Type="http://schemas.openxmlformats.org/officeDocument/2006/relationships/image" Target="../media/image38.png"/><Relationship Id="rId7" Type="http://schemas.openxmlformats.org/officeDocument/2006/relationships/image" Target="../media/image24.png"/><Relationship Id="rId8" Type="http://schemas.openxmlformats.org/officeDocument/2006/relationships/image" Target="../media/image34.png"/></Relationships>
</file>

<file path=ppt/slides/_rels/slide6.xml.rels><?xml version="1.0" encoding="UTF-8" standalone="yes"?><Relationships xmlns="http://schemas.openxmlformats.org/package/2006/relationships"><Relationship Id="rId10" Type="http://schemas.openxmlformats.org/officeDocument/2006/relationships/image" Target="../media/image47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6.png"/><Relationship Id="rId4" Type="http://schemas.openxmlformats.org/officeDocument/2006/relationships/image" Target="../media/image59.png"/><Relationship Id="rId9" Type="http://schemas.openxmlformats.org/officeDocument/2006/relationships/image" Target="../media/image41.png"/><Relationship Id="rId5" Type="http://schemas.openxmlformats.org/officeDocument/2006/relationships/image" Target="../media/image43.png"/><Relationship Id="rId6" Type="http://schemas.openxmlformats.org/officeDocument/2006/relationships/image" Target="../media/image37.png"/><Relationship Id="rId7" Type="http://schemas.openxmlformats.org/officeDocument/2006/relationships/image" Target="../media/image40.png"/><Relationship Id="rId8" Type="http://schemas.openxmlformats.org/officeDocument/2006/relationships/image" Target="../media/image4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2.png"/><Relationship Id="rId4" Type="http://schemas.openxmlformats.org/officeDocument/2006/relationships/image" Target="../media/image44.png"/><Relationship Id="rId5" Type="http://schemas.openxmlformats.org/officeDocument/2006/relationships/image" Target="../media/image5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2.png"/><Relationship Id="rId4" Type="http://schemas.openxmlformats.org/officeDocument/2006/relationships/image" Target="../media/image49.png"/><Relationship Id="rId5" Type="http://schemas.openxmlformats.org/officeDocument/2006/relationships/image" Target="../media/image57.png"/><Relationship Id="rId6" Type="http://schemas.openxmlformats.org/officeDocument/2006/relationships/image" Target="../media/image52.png"/><Relationship Id="rId7" Type="http://schemas.openxmlformats.org/officeDocument/2006/relationships/image" Target="../media/image4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2.png"/><Relationship Id="rId4" Type="http://schemas.openxmlformats.org/officeDocument/2006/relationships/image" Target="../media/image63.png"/><Relationship Id="rId5" Type="http://schemas.openxmlformats.org/officeDocument/2006/relationships/image" Target="../media/image65.png"/><Relationship Id="rId6" Type="http://schemas.openxmlformats.org/officeDocument/2006/relationships/image" Target="../media/image50.png"/><Relationship Id="rId7" Type="http://schemas.openxmlformats.org/officeDocument/2006/relationships/image" Target="../media/image6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3090624" y="2350740"/>
            <a:ext cx="6010800" cy="8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0" i="0" lang="en-US" sz="5400" u="none" cap="none" strike="noStrike">
                <a:solidFill>
                  <a:srgbClr val="0F172A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AIRAM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3"/>
          <p:cNvSpPr txBox="1"/>
          <p:nvPr/>
        </p:nvSpPr>
        <p:spPr>
          <a:xfrm>
            <a:off x="3233737" y="3408015"/>
            <a:ext cx="5724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AI-Assisted Requirement Analysis &amp; Management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3233737" y="4059435"/>
            <a:ext cx="5724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prove the resolution" id="87" name="Google Shape;87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67903" y="2220657"/>
            <a:ext cx="1157636" cy="1069426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825" y="140000"/>
            <a:ext cx="2769412" cy="866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571500" y="571500"/>
            <a:ext cx="11049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Use </a:t>
            </a:r>
            <a:r>
              <a:rPr b="1" i="0" lang="en-US" sz="31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Case</a:t>
            </a:r>
            <a:endParaRPr b="1" i="0" sz="3150" u="none" cap="none" strike="noStrike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95" name="Google Shape;95;p14"/>
          <p:cNvSpPr txBox="1"/>
          <p:nvPr/>
        </p:nvSpPr>
        <p:spPr>
          <a:xfrm>
            <a:off x="571500" y="1238250"/>
            <a:ext cx="11049000" cy="476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80"/>
              <a:buFont typeface="Arial"/>
              <a:buNone/>
            </a:pPr>
            <a:r>
              <a:rPr b="0" i="0" lang="en-US" sz="148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Manual validation of  automotive requirements against standards like ASPICE and ISO 26262 introduces severe bottlenecks:</a:t>
            </a:r>
            <a:endParaRPr b="0" i="0" sz="1480" u="none" cap="none" strike="noStrike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96" name="Google Shape;96;p14"/>
          <p:cNvGrpSpPr/>
          <p:nvPr/>
        </p:nvGrpSpPr>
        <p:grpSpPr>
          <a:xfrm>
            <a:off x="571500" y="2000250"/>
            <a:ext cx="3429000" cy="3905400"/>
            <a:chOff x="0" y="0"/>
            <a:chExt cx="3429000" cy="3905400"/>
          </a:xfrm>
        </p:grpSpPr>
        <p:sp>
          <p:nvSpPr>
            <p:cNvPr id="97" name="Google Shape;97;p14"/>
            <p:cNvSpPr/>
            <p:nvPr/>
          </p:nvSpPr>
          <p:spPr>
            <a:xfrm>
              <a:off x="0" y="0"/>
              <a:ext cx="3429000" cy="3905400"/>
            </a:xfrm>
            <a:prstGeom prst="roundRect">
              <a:avLst>
                <a:gd fmla="val 4444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" name="Google Shape;98;p14"/>
            <p:cNvSpPr/>
            <p:nvPr/>
          </p:nvSpPr>
          <p:spPr>
            <a:xfrm>
              <a:off x="285750" y="285750"/>
              <a:ext cx="533400" cy="533400"/>
            </a:xfrm>
            <a:prstGeom prst="roundRect">
              <a:avLst>
                <a:gd fmla="val 21428" name="adj"/>
              </a:avLst>
            </a:prstGeom>
            <a:solidFill>
              <a:srgbClr val="FEE2E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p14"/>
            <p:cNvSpPr txBox="1"/>
            <p:nvPr/>
          </p:nvSpPr>
          <p:spPr>
            <a:xfrm>
              <a:off x="285750" y="320802"/>
              <a:ext cx="533400" cy="53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>
                  <a:solidFill>
                    <a:srgbClr val="EF4444"/>
                  </a:solidFill>
                  <a:latin typeface="Mate"/>
                  <a:ea typeface="Mate"/>
                  <a:cs typeface="Mate"/>
                  <a:sym typeface="Mate"/>
                </a:rPr>
                <a:t>1.</a:t>
              </a:r>
              <a:endParaRPr b="0" i="0" sz="2400" u="none" cap="none" strike="noStrike">
                <a:solidFill>
                  <a:srgbClr val="EF4444"/>
                </a:solidFill>
                <a:latin typeface="Mate"/>
                <a:ea typeface="Mate"/>
                <a:cs typeface="Mate"/>
                <a:sym typeface="Mate"/>
              </a:endParaRPr>
            </a:p>
          </p:txBody>
        </p:sp>
        <p:sp>
          <p:nvSpPr>
            <p:cNvPr id="100" name="Google Shape;100;p14"/>
            <p:cNvSpPr txBox="1"/>
            <p:nvPr/>
          </p:nvSpPr>
          <p:spPr>
            <a:xfrm>
              <a:off x="285750" y="1047750"/>
              <a:ext cx="2857500" cy="257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US" sz="2000" u="none" cap="none" strike="noStrike">
                  <a:solidFill>
                    <a:srgbClr val="0F172A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Time-Consuming</a:t>
              </a:r>
              <a:endParaRPr b="1" i="0" sz="20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90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rPr b="0" i="0" lang="en-US" sz="1350" u="none" cap="none" strike="noStrike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Evaluating complex standard requirements manually demands massive engineering hours, severely delaying product time-to-market.</a:t>
              </a:r>
              <a:endParaRPr b="0" i="0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01" name="Google Shape;101;p14"/>
          <p:cNvGrpSpPr/>
          <p:nvPr/>
        </p:nvGrpSpPr>
        <p:grpSpPr>
          <a:xfrm>
            <a:off x="4381500" y="2000250"/>
            <a:ext cx="3429000" cy="3905400"/>
            <a:chOff x="0" y="0"/>
            <a:chExt cx="3429000" cy="3905400"/>
          </a:xfrm>
        </p:grpSpPr>
        <p:sp>
          <p:nvSpPr>
            <p:cNvPr id="102" name="Google Shape;102;p14"/>
            <p:cNvSpPr/>
            <p:nvPr/>
          </p:nvSpPr>
          <p:spPr>
            <a:xfrm>
              <a:off x="0" y="0"/>
              <a:ext cx="3429000" cy="3905400"/>
            </a:xfrm>
            <a:prstGeom prst="roundRect">
              <a:avLst>
                <a:gd fmla="val 4444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" name="Google Shape;103;p14"/>
            <p:cNvSpPr/>
            <p:nvPr/>
          </p:nvSpPr>
          <p:spPr>
            <a:xfrm>
              <a:off x="285750" y="285750"/>
              <a:ext cx="533400" cy="533400"/>
            </a:xfrm>
            <a:prstGeom prst="roundRect">
              <a:avLst>
                <a:gd fmla="val 21428" name="adj"/>
              </a:avLst>
            </a:prstGeom>
            <a:solidFill>
              <a:srgbClr val="FEE2E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" name="Google Shape;104;p14"/>
            <p:cNvSpPr txBox="1"/>
            <p:nvPr/>
          </p:nvSpPr>
          <p:spPr>
            <a:xfrm>
              <a:off x="285750" y="320802"/>
              <a:ext cx="533400" cy="53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>
                  <a:solidFill>
                    <a:srgbClr val="EF4444"/>
                  </a:solidFill>
                  <a:latin typeface="Mate"/>
                  <a:ea typeface="Mate"/>
                  <a:cs typeface="Mate"/>
                  <a:sym typeface="Mate"/>
                </a:rPr>
                <a:t>2.</a:t>
              </a:r>
              <a:endParaRPr b="0" i="0" sz="2400" u="none" cap="none" strike="noStrike">
                <a:solidFill>
                  <a:srgbClr val="EF4444"/>
                </a:solidFill>
                <a:latin typeface="Mate"/>
                <a:ea typeface="Mate"/>
                <a:cs typeface="Mate"/>
                <a:sym typeface="Mate"/>
              </a:endParaRPr>
            </a:p>
          </p:txBody>
        </p:sp>
        <p:sp>
          <p:nvSpPr>
            <p:cNvPr id="105" name="Google Shape;105;p14"/>
            <p:cNvSpPr txBox="1"/>
            <p:nvPr/>
          </p:nvSpPr>
          <p:spPr>
            <a:xfrm>
              <a:off x="285750" y="1047750"/>
              <a:ext cx="2857500" cy="257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US" sz="2000" u="none" cap="none" strike="noStrike">
                  <a:solidFill>
                    <a:srgbClr val="0F172A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Prone to Error</a:t>
              </a:r>
              <a:endParaRPr b="1" i="0" sz="20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90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rPr b="0" i="0" lang="en-US" sz="1350" u="none" cap="none" strike="noStrike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Human review struggles to guarantee total accuracy against dense specifications, increasing safety-critical compliance risks.</a:t>
              </a:r>
              <a:endParaRPr b="0" i="0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06" name="Google Shape;106;p14"/>
          <p:cNvGrpSpPr/>
          <p:nvPr/>
        </p:nvGrpSpPr>
        <p:grpSpPr>
          <a:xfrm>
            <a:off x="8191500" y="2000250"/>
            <a:ext cx="3429000" cy="3905400"/>
            <a:chOff x="0" y="0"/>
            <a:chExt cx="3429000" cy="3905400"/>
          </a:xfrm>
        </p:grpSpPr>
        <p:sp>
          <p:nvSpPr>
            <p:cNvPr id="107" name="Google Shape;107;p14"/>
            <p:cNvSpPr/>
            <p:nvPr/>
          </p:nvSpPr>
          <p:spPr>
            <a:xfrm>
              <a:off x="0" y="0"/>
              <a:ext cx="3429000" cy="3905400"/>
            </a:xfrm>
            <a:prstGeom prst="roundRect">
              <a:avLst>
                <a:gd fmla="val 4444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" name="Google Shape;108;p14"/>
            <p:cNvSpPr/>
            <p:nvPr/>
          </p:nvSpPr>
          <p:spPr>
            <a:xfrm>
              <a:off x="285750" y="285750"/>
              <a:ext cx="533400" cy="533400"/>
            </a:xfrm>
            <a:prstGeom prst="roundRect">
              <a:avLst>
                <a:gd fmla="val 21428" name="adj"/>
              </a:avLst>
            </a:prstGeom>
            <a:solidFill>
              <a:srgbClr val="FEE2E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Google Shape;109;p14"/>
            <p:cNvSpPr txBox="1"/>
            <p:nvPr/>
          </p:nvSpPr>
          <p:spPr>
            <a:xfrm>
              <a:off x="285750" y="320802"/>
              <a:ext cx="533400" cy="53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>
                  <a:solidFill>
                    <a:srgbClr val="EF4444"/>
                  </a:solidFill>
                  <a:latin typeface="Mate"/>
                  <a:ea typeface="Mate"/>
                  <a:cs typeface="Mate"/>
                  <a:sym typeface="Mate"/>
                </a:rPr>
                <a:t>3.</a:t>
              </a:r>
              <a:endParaRPr sz="2400">
                <a:solidFill>
                  <a:srgbClr val="EF4444"/>
                </a:solidFill>
                <a:latin typeface="Mate"/>
                <a:ea typeface="Mate"/>
                <a:cs typeface="Mate"/>
                <a:sym typeface="Mate"/>
              </a:endParaRPr>
            </a:p>
          </p:txBody>
        </p:sp>
        <p:sp>
          <p:nvSpPr>
            <p:cNvPr id="110" name="Google Shape;110;p14"/>
            <p:cNvSpPr txBox="1"/>
            <p:nvPr/>
          </p:nvSpPr>
          <p:spPr>
            <a:xfrm>
              <a:off x="285750" y="1047750"/>
              <a:ext cx="2857500" cy="257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US" sz="2000" u="none" cap="none" strike="noStrike">
                  <a:solidFill>
                    <a:srgbClr val="0F172A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Highly Inconsistent</a:t>
              </a:r>
              <a:endParaRPr b="1" i="0" sz="20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90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rPr b="0" i="0" lang="en-US" sz="1350" u="none" cap="none" strike="noStrike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Validation outcomes and syntax reviews lack uniformity, varying widely between isolated engineering teams.</a:t>
              </a:r>
              <a:endParaRPr b="0" i="0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111" name="Google Shape;111;p14"/>
          <p:cNvSpPr txBox="1"/>
          <p:nvPr/>
        </p:nvSpPr>
        <p:spPr>
          <a:xfrm>
            <a:off x="10629900" y="6457950"/>
            <a:ext cx="11811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TCS Confidential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6" name="Google Shape;11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838325"/>
            <a:ext cx="3429000" cy="406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7" name="Google Shape;117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81500" y="1838325"/>
            <a:ext cx="3429000" cy="406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" name="Google Shape;118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91500" y="1838325"/>
            <a:ext cx="3429000" cy="406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" name="Google Shape;119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66775" y="2228850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866775" y="3067050"/>
            <a:ext cx="1727559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F172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Quality Audit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15"/>
          <p:cNvSpPr txBox="1"/>
          <p:nvPr/>
        </p:nvSpPr>
        <p:spPr>
          <a:xfrm>
            <a:off x="866775" y="3543300"/>
            <a:ext cx="283845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Automates the evaluation of requirements against stringent INCOSE guidelines and EARS syntax using advanced LLMs, ensuring immediate compliance detection.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22" name="Google Shape;122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676775" y="2228850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5"/>
          <p:cNvSpPr txBox="1"/>
          <p:nvPr/>
        </p:nvSpPr>
        <p:spPr>
          <a:xfrm>
            <a:off x="4676775" y="3067050"/>
            <a:ext cx="2236373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F172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Auto-Correction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676775" y="3543300"/>
            <a:ext cx="28386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Automatically corrects invalid requirements and splits complex ones into single, easy-to-test statements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25" name="Google Shape;125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486775" y="2228850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5"/>
          <p:cNvSpPr txBox="1"/>
          <p:nvPr/>
        </p:nvSpPr>
        <p:spPr>
          <a:xfrm>
            <a:off x="8486775" y="3067050"/>
            <a:ext cx="15030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F172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Traceability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15"/>
          <p:cNvSpPr txBox="1"/>
          <p:nvPr/>
        </p:nvSpPr>
        <p:spPr>
          <a:xfrm>
            <a:off x="8486775" y="3543300"/>
            <a:ext cx="283845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Performs semantic matching to ensure bidirectional coverage between High-Level (SWE.1) and Low-Level (SWE.2) requirements, instantly flagging orphans.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28" name="Google Shape;128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057275" y="2381250"/>
            <a:ext cx="2286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810125" y="2381250"/>
            <a:ext cx="3429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601075" y="2381250"/>
            <a:ext cx="3810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5"/>
          <p:cNvSpPr txBox="1"/>
          <p:nvPr/>
        </p:nvSpPr>
        <p:spPr>
          <a:xfrm>
            <a:off x="571500" y="571500"/>
            <a:ext cx="116016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AIRAM Solution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15"/>
          <p:cNvSpPr txBox="1"/>
          <p:nvPr/>
        </p:nvSpPr>
        <p:spPr>
          <a:xfrm>
            <a:off x="10629900" y="6457950"/>
            <a:ext cx="11811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TCS Confidential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7" name="Google Shape;13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85862" y="2457450"/>
            <a:ext cx="1104900" cy="876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8" name="Google Shape;138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2437" y="3571875"/>
            <a:ext cx="2571750" cy="2381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9" name="Google Shape;139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090987" y="2457450"/>
            <a:ext cx="1104900" cy="876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0" name="Google Shape;140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357562" y="3571875"/>
            <a:ext cx="2571750" cy="2381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1" name="Google Shape;141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996112" y="2457450"/>
            <a:ext cx="1104900" cy="876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2" name="Google Shape;142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262687" y="3571875"/>
            <a:ext cx="2571750" cy="2381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3" name="Google Shape;143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901237" y="2457450"/>
            <a:ext cx="1104900" cy="876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4" name="Google Shape;144;p1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167812" y="3571875"/>
            <a:ext cx="2571750" cy="238125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6"/>
          <p:cNvSpPr/>
          <p:nvPr/>
        </p:nvSpPr>
        <p:spPr>
          <a:xfrm>
            <a:off x="1524000" y="2914650"/>
            <a:ext cx="9144000" cy="573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46" name="Google Shape;146;p1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376362" y="2533650"/>
            <a:ext cx="723900" cy="7239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6"/>
          <p:cNvSpPr txBox="1"/>
          <p:nvPr/>
        </p:nvSpPr>
        <p:spPr>
          <a:xfrm>
            <a:off x="708183" y="3867150"/>
            <a:ext cx="20604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2E7D3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Test Case Generation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16"/>
          <p:cNvSpPr txBox="1"/>
          <p:nvPr/>
        </p:nvSpPr>
        <p:spPr>
          <a:xfrm>
            <a:off x="690562" y="4267200"/>
            <a:ext cx="2095500" cy="72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Auto-draft verification tests (SWE.4–6) linked directly back to the source requirement ID.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49" name="Google Shape;149;p16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4281487" y="2533650"/>
            <a:ext cx="723900" cy="7239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6"/>
          <p:cNvSpPr txBox="1"/>
          <p:nvPr/>
        </p:nvSpPr>
        <p:spPr>
          <a:xfrm>
            <a:off x="3543300" y="3867150"/>
            <a:ext cx="22002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C6282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Change-Impact Analysis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16"/>
          <p:cNvSpPr txBox="1"/>
          <p:nvPr/>
        </p:nvSpPr>
        <p:spPr>
          <a:xfrm>
            <a:off x="3595687" y="4514850"/>
            <a:ext cx="2095500" cy="10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Instantly flags when downstream SWE.2s and test cases go stale due to an SWE.1 edit.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52" name="Google Shape;152;p16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7186612" y="2533650"/>
            <a:ext cx="723900" cy="7239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6"/>
          <p:cNvSpPr txBox="1"/>
          <p:nvPr/>
        </p:nvSpPr>
        <p:spPr>
          <a:xfrm>
            <a:off x="6573440" y="3867150"/>
            <a:ext cx="19503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E651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Diagram Generation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16"/>
          <p:cNvSpPr txBox="1"/>
          <p:nvPr/>
        </p:nvSpPr>
        <p:spPr>
          <a:xfrm>
            <a:off x="6500812" y="4267200"/>
            <a:ext cx="2095500" cy="10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Automatically draft sequence, class, and state diagrams (Mermaid) from requirements sets.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55" name="Google Shape;155;p16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10091737" y="2533650"/>
            <a:ext cx="723900" cy="7239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6"/>
          <p:cNvSpPr txBox="1"/>
          <p:nvPr/>
        </p:nvSpPr>
        <p:spPr>
          <a:xfrm>
            <a:off x="9418558" y="3867150"/>
            <a:ext cx="20703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277B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Diagram Consistency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16"/>
          <p:cNvSpPr txBox="1"/>
          <p:nvPr/>
        </p:nvSpPr>
        <p:spPr>
          <a:xfrm>
            <a:off x="9405937" y="4267200"/>
            <a:ext cx="2095500" cy="10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Parses diagram elements visually and flags missing gaps or orphans against requirements.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58" name="Google Shape;158;p16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1576387" y="2733675"/>
            <a:ext cx="32385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9" name="Google Shape;159;p16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4438650" y="2733675"/>
            <a:ext cx="409575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0" name="Google Shape;160;p16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7367587" y="2733675"/>
            <a:ext cx="36195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1" name="Google Shape;161;p16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10272712" y="2733675"/>
            <a:ext cx="361950" cy="3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6"/>
          <p:cNvSpPr txBox="1"/>
          <p:nvPr/>
        </p:nvSpPr>
        <p:spPr>
          <a:xfrm>
            <a:off x="190500" y="762000"/>
            <a:ext cx="118110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</a:pPr>
            <a:r>
              <a:rPr b="0" i="0" lang="en-US" sz="3900" u="none" cap="none" strike="noStrike">
                <a:solidFill>
                  <a:srgbClr val="1E293B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Agentic Workflows &amp; Traceability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16"/>
          <p:cNvSpPr txBox="1"/>
          <p:nvPr/>
        </p:nvSpPr>
        <p:spPr>
          <a:xfrm>
            <a:off x="3895725" y="1485900"/>
            <a:ext cx="44007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EXPANDING THE V-CYCLE AUTOMATION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16"/>
          <p:cNvSpPr txBox="1"/>
          <p:nvPr/>
        </p:nvSpPr>
        <p:spPr>
          <a:xfrm>
            <a:off x="10629900" y="6457950"/>
            <a:ext cx="11811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TCS Confidential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9" name="Google Shape;16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85862" y="2457450"/>
            <a:ext cx="1104900" cy="876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0" name="Google Shape;170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2437" y="3571875"/>
            <a:ext cx="2571750" cy="2381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1" name="Google Shape;171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090987" y="2457450"/>
            <a:ext cx="1104900" cy="876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2" name="Google Shape;172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357562" y="3571875"/>
            <a:ext cx="2571750" cy="2381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3" name="Google Shape;173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996112" y="2457450"/>
            <a:ext cx="1104900" cy="876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4" name="Google Shape;174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262687" y="3571875"/>
            <a:ext cx="2571750" cy="2381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5" name="Google Shape;175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901237" y="2457450"/>
            <a:ext cx="1104900" cy="876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6" name="Google Shape;176;p1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167812" y="3571875"/>
            <a:ext cx="2571750" cy="238125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7"/>
          <p:cNvSpPr/>
          <p:nvPr/>
        </p:nvSpPr>
        <p:spPr>
          <a:xfrm>
            <a:off x="1524000" y="2914650"/>
            <a:ext cx="9144000" cy="573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78" name="Google Shape;178;p1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376362" y="2533650"/>
            <a:ext cx="723900" cy="7239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7"/>
          <p:cNvSpPr txBox="1"/>
          <p:nvPr/>
        </p:nvSpPr>
        <p:spPr>
          <a:xfrm>
            <a:off x="638175" y="3867150"/>
            <a:ext cx="22002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4527A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Role-Based Dashboards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17"/>
          <p:cNvSpPr txBox="1"/>
          <p:nvPr/>
        </p:nvSpPr>
        <p:spPr>
          <a:xfrm>
            <a:off x="690562" y="4514850"/>
            <a:ext cx="2095500" cy="72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Separate, tailored views and controls for Authors, Reviewers, and Team Leads.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81" name="Google Shape;181;p17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4281487" y="2533650"/>
            <a:ext cx="723900" cy="72390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17"/>
          <p:cNvSpPr txBox="1"/>
          <p:nvPr/>
        </p:nvSpPr>
        <p:spPr>
          <a:xfrm>
            <a:off x="3543300" y="3867150"/>
            <a:ext cx="22002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2E7D3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Chatbot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17"/>
          <p:cNvSpPr txBox="1"/>
          <p:nvPr/>
        </p:nvSpPr>
        <p:spPr>
          <a:xfrm>
            <a:off x="3595687" y="4514850"/>
            <a:ext cx="2095500" cy="10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Chat interface to </a:t>
            </a:r>
            <a:r>
              <a:rPr lang="en-US" sz="1125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properly communicate </a:t>
            </a: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"Which SWE.2s cover the trigger?" instead of filtering complex tables.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84" name="Google Shape;184;p17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7186612" y="2533650"/>
            <a:ext cx="723900" cy="72390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17"/>
          <p:cNvSpPr txBox="1"/>
          <p:nvPr/>
        </p:nvSpPr>
        <p:spPr>
          <a:xfrm>
            <a:off x="6578441" y="3867150"/>
            <a:ext cx="19401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C6282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Teams / Slack Alerts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17"/>
          <p:cNvSpPr txBox="1"/>
          <p:nvPr/>
        </p:nvSpPr>
        <p:spPr>
          <a:xfrm>
            <a:off x="6500812" y="4267200"/>
            <a:ext cx="2095500" cy="5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Send instant notifications </a:t>
            </a:r>
            <a:endParaRPr sz="1125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lang="en-US" sz="1125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Or raise tickets</a:t>
            </a:r>
            <a:endParaRPr sz="1125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image.png" id="187" name="Google Shape;187;p17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10091737" y="2533650"/>
            <a:ext cx="723900" cy="7239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17"/>
          <p:cNvSpPr txBox="1"/>
          <p:nvPr/>
        </p:nvSpPr>
        <p:spPr>
          <a:xfrm>
            <a:off x="9513570" y="3867150"/>
            <a:ext cx="18801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E651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Baseline Versioning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17"/>
          <p:cNvSpPr txBox="1"/>
          <p:nvPr/>
        </p:nvSpPr>
        <p:spPr>
          <a:xfrm>
            <a:off x="9405937" y="4267200"/>
            <a:ext cx="2095500" cy="10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Freeze an approved requirement set as an immutable milestone snapshot for ASPICE audits.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90" name="Google Shape;190;p17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1533525" y="2733675"/>
            <a:ext cx="409575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1" name="Google Shape;191;p17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4438650" y="2733675"/>
            <a:ext cx="409575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2" name="Google Shape;192;p17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7405687" y="2733675"/>
            <a:ext cx="28575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3" name="Google Shape;193;p17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10248900" y="2733675"/>
            <a:ext cx="409575" cy="3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17"/>
          <p:cNvSpPr txBox="1"/>
          <p:nvPr/>
        </p:nvSpPr>
        <p:spPr>
          <a:xfrm>
            <a:off x="190500" y="762000"/>
            <a:ext cx="118110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</a:pPr>
            <a:r>
              <a:rPr b="0" i="0" lang="en-US" sz="3900" u="none" cap="none" strike="noStrike">
                <a:solidFill>
                  <a:srgbClr val="1E293B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Collaboration &amp; User Experience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17"/>
          <p:cNvSpPr txBox="1"/>
          <p:nvPr/>
        </p:nvSpPr>
        <p:spPr>
          <a:xfrm>
            <a:off x="3705225" y="1485900"/>
            <a:ext cx="47817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ENHANCING TEAM VISIBILITY AND ACCESS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17"/>
          <p:cNvSpPr txBox="1"/>
          <p:nvPr/>
        </p:nvSpPr>
        <p:spPr>
          <a:xfrm>
            <a:off x="10629900" y="6457950"/>
            <a:ext cx="11811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TCS Confidential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1" name="Google Shape;20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45827" y="2457450"/>
            <a:ext cx="1104900" cy="876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2" name="Google Shape;202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12402" y="3571875"/>
            <a:ext cx="2571750" cy="2381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3" name="Google Shape;203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050952" y="2457450"/>
            <a:ext cx="1104900" cy="876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4" name="Google Shape;204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17527" y="3571875"/>
            <a:ext cx="2571750" cy="2381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5" name="Google Shape;205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336327" y="2533650"/>
            <a:ext cx="723900" cy="7239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18"/>
          <p:cNvSpPr txBox="1"/>
          <p:nvPr/>
        </p:nvSpPr>
        <p:spPr>
          <a:xfrm>
            <a:off x="3598139" y="3867150"/>
            <a:ext cx="22002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277B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Multi-Agent Orchestrator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18"/>
          <p:cNvSpPr txBox="1"/>
          <p:nvPr/>
        </p:nvSpPr>
        <p:spPr>
          <a:xfrm>
            <a:off x="3650527" y="4514850"/>
            <a:ext cx="2095500" cy="83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 thin dispatcher routing each </a:t>
            </a:r>
            <a:r>
              <a:rPr lang="en-US" sz="1125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process </a:t>
            </a: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to specialized agents instead of one linear script.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08" name="Google Shape;208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241452" y="2533650"/>
            <a:ext cx="723900" cy="7239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18"/>
          <p:cNvSpPr txBox="1"/>
          <p:nvPr/>
        </p:nvSpPr>
        <p:spPr>
          <a:xfrm>
            <a:off x="6718291" y="3867150"/>
            <a:ext cx="17703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4527A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Full LLM Audit Trail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18"/>
          <p:cNvSpPr txBox="1"/>
          <p:nvPr/>
        </p:nvSpPr>
        <p:spPr>
          <a:xfrm>
            <a:off x="6555652" y="4267200"/>
            <a:ext cx="2095500" cy="10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Persist model version, prompt hash, and confidence scores for every call, not just the final verdict.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11" name="Google Shape;211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517302" y="2733675"/>
            <a:ext cx="36195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2" name="Google Shape;212;p1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441477" y="2733675"/>
            <a:ext cx="323850" cy="3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18"/>
          <p:cNvSpPr txBox="1"/>
          <p:nvPr/>
        </p:nvSpPr>
        <p:spPr>
          <a:xfrm>
            <a:off x="190500" y="762000"/>
            <a:ext cx="118110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</a:pPr>
            <a:r>
              <a:rPr b="0" i="0" lang="en-US" sz="3900" u="none" cap="none" strike="noStrike">
                <a:solidFill>
                  <a:srgbClr val="1E293B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Enterprise Governance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18"/>
          <p:cNvSpPr txBox="1"/>
          <p:nvPr/>
        </p:nvSpPr>
        <p:spPr>
          <a:xfrm>
            <a:off x="3481387" y="1485900"/>
            <a:ext cx="52293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AUDITABILITY AND INFRASTRUCTURE SCALING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18"/>
          <p:cNvSpPr txBox="1"/>
          <p:nvPr/>
        </p:nvSpPr>
        <p:spPr>
          <a:xfrm>
            <a:off x="10629900" y="6457950"/>
            <a:ext cx="11811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TCS Confidential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9"/>
          <p:cNvSpPr txBox="1"/>
          <p:nvPr/>
        </p:nvSpPr>
        <p:spPr>
          <a:xfrm>
            <a:off x="571500" y="571500"/>
            <a:ext cx="5550600" cy="9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</a:t>
            </a:r>
            <a:r>
              <a:rPr b="1" lang="en-US" sz="315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urrent</a:t>
            </a:r>
            <a:r>
              <a:rPr b="1" i="0" lang="en-US" sz="31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Capability: </a:t>
            </a:r>
            <a:r>
              <a:rPr b="1" i="0" lang="en-US" sz="31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Quality Auditor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19"/>
          <p:cNvSpPr txBox="1"/>
          <p:nvPr/>
        </p:nvSpPr>
        <p:spPr>
          <a:xfrm>
            <a:off x="571500" y="2314575"/>
            <a:ext cx="52863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The core evaluation engine audits individual software requirements against strict engineering guidelines with unprecedented accuracy.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19"/>
          <p:cNvSpPr txBox="1"/>
          <p:nvPr/>
        </p:nvSpPr>
        <p:spPr>
          <a:xfrm>
            <a:off x="571500" y="3419475"/>
            <a:ext cx="5286375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It supports intelligent RAG retrieval, strict JSON rule enforcement, and custom evaluation contexts to deliver precise PASS/REVIEW verdicts with detailed, structured rationale.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19"/>
          <p:cNvSpPr txBox="1"/>
          <p:nvPr/>
        </p:nvSpPr>
        <p:spPr>
          <a:xfrm>
            <a:off x="571500" y="4829175"/>
            <a:ext cx="52863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 secondary LLM recheck mechanism ensures subtle violations missed in the first pass are captured, guaranteeing assessment rigor.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4" name="Google Shape;224;p19"/>
          <p:cNvPicPr preferRelativeResize="0"/>
          <p:nvPr/>
        </p:nvPicPr>
        <p:blipFill rotWithShape="1">
          <a:blip r:embed="rId3">
            <a:alphaModFix/>
          </a:blip>
          <a:srcRect b="0" l="-2447" r="5744" t="0"/>
          <a:stretch/>
        </p:blipFill>
        <p:spPr>
          <a:xfrm>
            <a:off x="6122100" y="106125"/>
            <a:ext cx="6058424" cy="6526475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19"/>
          <p:cNvSpPr txBox="1"/>
          <p:nvPr/>
        </p:nvSpPr>
        <p:spPr>
          <a:xfrm>
            <a:off x="10629900" y="6457950"/>
            <a:ext cx="11811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TCS Confidential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0"/>
          <p:cNvSpPr txBox="1"/>
          <p:nvPr/>
        </p:nvSpPr>
        <p:spPr>
          <a:xfrm>
            <a:off x="704850" y="1966912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20"/>
          <p:cNvSpPr txBox="1"/>
          <p:nvPr/>
        </p:nvSpPr>
        <p:spPr>
          <a:xfrm>
            <a:off x="809625" y="1966912"/>
            <a:ext cx="500062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Evaluates bidirectional tracing compliance between High-Level (SWE.1) and Low-Level (SWE.2) requirements effortlessly.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20"/>
          <p:cNvSpPr txBox="1"/>
          <p:nvPr/>
        </p:nvSpPr>
        <p:spPr>
          <a:xfrm>
            <a:off x="704850" y="3071812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20"/>
          <p:cNvSpPr txBox="1"/>
          <p:nvPr/>
        </p:nvSpPr>
        <p:spPr>
          <a:xfrm>
            <a:off x="809625" y="3071812"/>
            <a:ext cx="500062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Utilizes Large Language Model semantic matching to accurately identify valid requirement links, going beyond simple keyword searches.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20"/>
          <p:cNvSpPr txBox="1"/>
          <p:nvPr/>
        </p:nvSpPr>
        <p:spPr>
          <a:xfrm>
            <a:off x="704850" y="4176712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20"/>
          <p:cNvSpPr txBox="1"/>
          <p:nvPr/>
        </p:nvSpPr>
        <p:spPr>
          <a:xfrm>
            <a:off x="809625" y="4176712"/>
            <a:ext cx="50006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Automatically flags orphaned SWE.2 requirements lacking parent HLR coverage to prevent scope creep.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20"/>
          <p:cNvSpPr txBox="1"/>
          <p:nvPr/>
        </p:nvSpPr>
        <p:spPr>
          <a:xfrm>
            <a:off x="704850" y="4976812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20"/>
          <p:cNvSpPr txBox="1"/>
          <p:nvPr/>
        </p:nvSpPr>
        <p:spPr>
          <a:xfrm>
            <a:off x="809625" y="4976812"/>
            <a:ext cx="50006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Processes large datasets efficiently with intelligent context window management and batch execution.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20"/>
          <p:cNvSpPr txBox="1"/>
          <p:nvPr/>
        </p:nvSpPr>
        <p:spPr>
          <a:xfrm>
            <a:off x="295200" y="509500"/>
            <a:ext cx="11601600" cy="9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</a:t>
            </a:r>
            <a:r>
              <a:rPr b="1" lang="en-US" sz="315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urrent </a:t>
            </a:r>
            <a:r>
              <a:rPr b="1" i="0" lang="en-US" sz="31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Capability: Traceability</a:t>
            </a:r>
            <a:endParaRPr b="1" i="0" sz="3150" u="none" cap="none" strike="noStrike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Analyzer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9" name="Google Shape;23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96625" y="694225"/>
            <a:ext cx="5408501" cy="5624101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20"/>
          <p:cNvSpPr txBox="1"/>
          <p:nvPr/>
        </p:nvSpPr>
        <p:spPr>
          <a:xfrm>
            <a:off x="10629900" y="6457950"/>
            <a:ext cx="11811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TCS Confidential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5" name="Google Shape;24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6" name="Google Shape;246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09825"/>
            <a:ext cx="5238750" cy="2924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7" name="Google Shape;247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2409825"/>
            <a:ext cx="5238750" cy="2924175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1"/>
          <p:cNvSpPr txBox="1"/>
          <p:nvPr/>
        </p:nvSpPr>
        <p:spPr>
          <a:xfrm>
            <a:off x="962025" y="2800350"/>
            <a:ext cx="468058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284C7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Intelligent Ingestion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21"/>
          <p:cNvSpPr txBox="1"/>
          <p:nvPr/>
        </p:nvSpPr>
        <p:spPr>
          <a:xfrm>
            <a:off x="962025" y="3276600"/>
            <a:ext cx="44577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Progressively parses and intelligently chunks complex documentation including PDFs, Excel sheets, CSVs, JSON, and TXT files. It leverages cutting-edge extraction models to embed data into a highly scalable Qdrant vector database.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21"/>
          <p:cNvSpPr txBox="1"/>
          <p:nvPr/>
        </p:nvSpPr>
        <p:spPr>
          <a:xfrm>
            <a:off x="6772275" y="2800350"/>
            <a:ext cx="468058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284C7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Semantic Retrieval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21"/>
          <p:cNvSpPr txBox="1"/>
          <p:nvPr/>
        </p:nvSpPr>
        <p:spPr>
          <a:xfrm>
            <a:off x="6772275" y="3276600"/>
            <a:ext cx="44577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Provides highly relevant engineering guidelines as direct context for LLM audits. This ensures that automated compliance checks are deeply rooted in your organization's specific standards, rather than generic AI knowledge.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21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Advanced Knowledge (RAG) Engine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21"/>
          <p:cNvSpPr txBox="1"/>
          <p:nvPr/>
        </p:nvSpPr>
        <p:spPr>
          <a:xfrm>
            <a:off x="10629900" y="6457950"/>
            <a:ext cx="11811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TCS Confidential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8" name="Google Shape;25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22"/>
          <p:cNvSpPr txBox="1"/>
          <p:nvPr/>
        </p:nvSpPr>
        <p:spPr>
          <a:xfrm>
            <a:off x="2286000" y="2195512"/>
            <a:ext cx="8096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Frontend Framework: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Angular 22 framework with TypeScript, utilizing a clean, component-based architecture and real-time SSE streaming for long-running processes.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22"/>
          <p:cNvSpPr txBox="1"/>
          <p:nvPr/>
        </p:nvSpPr>
        <p:spPr>
          <a:xfrm>
            <a:off x="2286000" y="3033712"/>
            <a:ext cx="8096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Backend Architecture: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High-performance FastAPI application written in Python 3.10+, backed by an embedded SQLite database (with Postgres readiness for cloud).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22"/>
          <p:cNvSpPr txBox="1"/>
          <p:nvPr/>
        </p:nvSpPr>
        <p:spPr>
          <a:xfrm>
            <a:off x="2286000" y="3871912"/>
            <a:ext cx="8096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AI &amp; Foundation Models: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Powered by the NVIDIA NIM API, utilizing the state-of-the-art Llama 3.3 Nemotron 49B model and nv-e5-v5 for highly accurate embeddings.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22"/>
          <p:cNvSpPr txBox="1"/>
          <p:nvPr/>
        </p:nvSpPr>
        <p:spPr>
          <a:xfrm>
            <a:off x="2286000" y="4710112"/>
            <a:ext cx="8096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Vector Storage: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Integrates seamlessly with Qdrant Cloud for robust semantic search, context retrieval, and fast document metadata filtering.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63" name="Google Shape;263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9750" y="2224087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4" name="Google Shape;264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09750" y="306228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5" name="Google Shape;265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09750" y="390048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6" name="Google Shape;266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809750" y="4738687"/>
            <a:ext cx="20002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22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Technology Stack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22"/>
          <p:cNvSpPr txBox="1"/>
          <p:nvPr/>
        </p:nvSpPr>
        <p:spPr>
          <a:xfrm>
            <a:off x="10629900" y="6457950"/>
            <a:ext cx="1181100" cy="1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TCS Confidential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3" name="Google Shape;273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033587"/>
            <a:ext cx="3429000" cy="2286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4" name="Google Shape;274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81500" y="2033587"/>
            <a:ext cx="3429000" cy="2286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23"/>
          <p:cNvSpPr txBox="1"/>
          <p:nvPr/>
        </p:nvSpPr>
        <p:spPr>
          <a:xfrm>
            <a:off x="571500" y="4548187"/>
            <a:ext cx="36004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0F172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Dashboard Analytics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23"/>
          <p:cNvSpPr txBox="1"/>
          <p:nvPr/>
        </p:nvSpPr>
        <p:spPr>
          <a:xfrm>
            <a:off x="571500" y="4957762"/>
            <a:ext cx="3429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Track compliance trends and execution history.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23"/>
          <p:cNvSpPr txBox="1"/>
          <p:nvPr/>
        </p:nvSpPr>
        <p:spPr>
          <a:xfrm>
            <a:off x="4381500" y="4548187"/>
            <a:ext cx="36004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0F172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Evaluation Workspace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23"/>
          <p:cNvSpPr txBox="1"/>
          <p:nvPr/>
        </p:nvSpPr>
        <p:spPr>
          <a:xfrm>
            <a:off x="4381500" y="4957762"/>
            <a:ext cx="3429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Upload files and control real-time analysis execution.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23"/>
          <p:cNvSpPr txBox="1"/>
          <p:nvPr/>
        </p:nvSpPr>
        <p:spPr>
          <a:xfrm>
            <a:off x="8944282" y="4554487"/>
            <a:ext cx="36006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0F172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Knowledge Config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23"/>
          <p:cNvSpPr txBox="1"/>
          <p:nvPr/>
        </p:nvSpPr>
        <p:spPr>
          <a:xfrm>
            <a:off x="8913550" y="4962412"/>
            <a:ext cx="34290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Manage standards and evaluate semantic retrieval.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23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Platform Interface Overview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2" name="Google Shape;282;p23"/>
          <p:cNvPicPr preferRelativeResize="0"/>
          <p:nvPr/>
        </p:nvPicPr>
        <p:blipFill rotWithShape="1">
          <a:blip r:embed="rId5">
            <a:alphaModFix/>
          </a:blip>
          <a:srcRect b="0" l="0" r="7544" t="0"/>
          <a:stretch/>
        </p:blipFill>
        <p:spPr>
          <a:xfrm>
            <a:off x="121392" y="1912163"/>
            <a:ext cx="4065278" cy="2386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23"/>
          <p:cNvPicPr preferRelativeResize="0"/>
          <p:nvPr/>
        </p:nvPicPr>
        <p:blipFill rotWithShape="1">
          <a:blip r:embed="rId6">
            <a:alphaModFix/>
          </a:blip>
          <a:srcRect b="0" l="0" r="4862" t="0"/>
          <a:stretch/>
        </p:blipFill>
        <p:spPr>
          <a:xfrm>
            <a:off x="4468775" y="1847021"/>
            <a:ext cx="4065277" cy="234001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534052" y="2109640"/>
            <a:ext cx="3440422" cy="2034536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23"/>
          <p:cNvSpPr txBox="1"/>
          <p:nvPr/>
        </p:nvSpPr>
        <p:spPr>
          <a:xfrm>
            <a:off x="10629900" y="6457950"/>
            <a:ext cx="11811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TCS Confidential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4"/>
          <p:cNvSpPr txBox="1"/>
          <p:nvPr/>
        </p:nvSpPr>
        <p:spPr>
          <a:xfrm>
            <a:off x="0" y="2719318"/>
            <a:ext cx="12192000" cy="129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Thank you</a:t>
            </a:r>
            <a:endParaRPr b="1" sz="7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91" name="Google Shape;291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825" y="140000"/>
            <a:ext cx="2769412" cy="866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