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Urbanist ExtraBold"/>
      <p:bold r:id="rId21"/>
      <p:boldItalic r:id="rId22"/>
    </p:embeddedFont>
    <p:embeddedFont>
      <p:font typeface="Lexend"/>
      <p:regular r:id="rId23"/>
      <p:bold r:id="rId24"/>
    </p:embeddedFont>
    <p:embeddedFont>
      <p:font typeface="Poppins ExtraBold"/>
      <p:bold r:id="rId25"/>
      <p:boldItalic r:id="rId26"/>
    </p:embeddedFont>
    <p:embeddedFont>
      <p:font typeface="Plus Jakarta Sans ExtraBold"/>
      <p:bold r:id="rId27"/>
      <p:boldItalic r:id="rId28"/>
    </p:embeddedFont>
    <p:embeddedFont>
      <p:font typeface="Inter SemiBold"/>
      <p:regular r:id="rId29"/>
      <p:bold r:id="rId30"/>
      <p:italic r:id="rId31"/>
      <p:boldItalic r:id="rId32"/>
    </p:embeddedFont>
    <p:embeddedFont>
      <p:font typeface="Poppins"/>
      <p:bold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Plus Jakarta Sans"/>
      <p:regular r:id="rId39"/>
      <p:bold r:id="rId40"/>
      <p:italic r:id="rId41"/>
      <p:boldItalic r:id="rId42"/>
    </p:embeddedFont>
    <p:embeddedFont>
      <p:font typeface="Urbanist Medium"/>
      <p:regular r:id="rId43"/>
      <p:bold r:id="rId44"/>
      <p:italic r:id="rId45"/>
      <p:boldItalic r:id="rId46"/>
    </p:embeddedFont>
    <p:embeddedFont>
      <p:font typeface="Plus Jakarta Sans SemiBold"/>
      <p:regular r:id="rId47"/>
      <p:bold r:id="rId48"/>
      <p:italic r:id="rId49"/>
      <p:boldItalic r:id="rId50"/>
    </p:embeddedFont>
    <p:embeddedFont>
      <p:font typeface="Urbanist"/>
      <p:bold r:id="rId51"/>
      <p:boldItalic r:id="rId52"/>
    </p:embeddedFont>
    <p:embeddedFont>
      <p:font typeface="Poppins SemiBold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-bold.fntdata"/><Relationship Id="rId42" Type="http://schemas.openxmlformats.org/officeDocument/2006/relationships/font" Target="fonts/PlusJakartaSans-boldItalic.fntdata"/><Relationship Id="rId41" Type="http://schemas.openxmlformats.org/officeDocument/2006/relationships/font" Target="fonts/PlusJakartaSans-italic.fntdata"/><Relationship Id="rId44" Type="http://schemas.openxmlformats.org/officeDocument/2006/relationships/font" Target="fonts/UrbanistMedium-bold.fntdata"/><Relationship Id="rId43" Type="http://schemas.openxmlformats.org/officeDocument/2006/relationships/font" Target="fonts/UrbanistMedium-regular.fntdata"/><Relationship Id="rId46" Type="http://schemas.openxmlformats.org/officeDocument/2006/relationships/font" Target="fonts/UrbanistMedium-boldItalic.fntdata"/><Relationship Id="rId45" Type="http://schemas.openxmlformats.org/officeDocument/2006/relationships/font" Target="fonts/Urbanis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lusJakartaSansSemiBold-bold.fntdata"/><Relationship Id="rId47" Type="http://schemas.openxmlformats.org/officeDocument/2006/relationships/font" Target="fonts/PlusJakartaSansSemiBold-regular.fntdata"/><Relationship Id="rId49" Type="http://schemas.openxmlformats.org/officeDocument/2006/relationships/font" Target="fonts/PlusJakartaSa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SemiBold-italic.fntdata"/><Relationship Id="rId30" Type="http://schemas.openxmlformats.org/officeDocument/2006/relationships/font" Target="fonts/InterSemiBold-bold.fntdata"/><Relationship Id="rId33" Type="http://schemas.openxmlformats.org/officeDocument/2006/relationships/font" Target="fonts/Poppins-bold.fntdata"/><Relationship Id="rId32" Type="http://schemas.openxmlformats.org/officeDocument/2006/relationships/font" Target="fonts/InterSemiBold-boldItalic.fntdata"/><Relationship Id="rId35" Type="http://schemas.openxmlformats.org/officeDocument/2006/relationships/font" Target="fonts/Lato-regular.fntdata"/><Relationship Id="rId34" Type="http://schemas.openxmlformats.org/officeDocument/2006/relationships/font" Target="fonts/Poppins-boldItalic.fntdata"/><Relationship Id="rId37" Type="http://schemas.openxmlformats.org/officeDocument/2006/relationships/font" Target="fonts/Lato-italic.fntdata"/><Relationship Id="rId36" Type="http://schemas.openxmlformats.org/officeDocument/2006/relationships/font" Target="fonts/Lato-bold.fntdata"/><Relationship Id="rId39" Type="http://schemas.openxmlformats.org/officeDocument/2006/relationships/font" Target="fonts/PlusJakartaSans-regular.fntdata"/><Relationship Id="rId38" Type="http://schemas.openxmlformats.org/officeDocument/2006/relationships/font" Target="fonts/Lato-boldItalic.fntdata"/><Relationship Id="rId20" Type="http://schemas.openxmlformats.org/officeDocument/2006/relationships/font" Target="fonts/Inter-boldItalic.fntdata"/><Relationship Id="rId22" Type="http://schemas.openxmlformats.org/officeDocument/2006/relationships/font" Target="fonts/UrbanistExtraBold-boldItalic.fntdata"/><Relationship Id="rId21" Type="http://schemas.openxmlformats.org/officeDocument/2006/relationships/font" Target="fonts/UrbanistExtraBold-bold.fntdata"/><Relationship Id="rId24" Type="http://schemas.openxmlformats.org/officeDocument/2006/relationships/font" Target="fonts/Lexend-bold.fntdata"/><Relationship Id="rId23" Type="http://schemas.openxmlformats.org/officeDocument/2006/relationships/font" Target="fonts/Lexend-regular.fntdata"/><Relationship Id="rId26" Type="http://schemas.openxmlformats.org/officeDocument/2006/relationships/font" Target="fonts/PoppinsExtraBold-boldItalic.fntdata"/><Relationship Id="rId25" Type="http://schemas.openxmlformats.org/officeDocument/2006/relationships/font" Target="fonts/PoppinsExtraBold-bold.fntdata"/><Relationship Id="rId28" Type="http://schemas.openxmlformats.org/officeDocument/2006/relationships/font" Target="fonts/PlusJakartaSansExtraBold-boldItalic.fntdata"/><Relationship Id="rId27" Type="http://schemas.openxmlformats.org/officeDocument/2006/relationships/font" Target="fonts/PlusJakartaSansExtraBold-bold.fntdata"/><Relationship Id="rId29" Type="http://schemas.openxmlformats.org/officeDocument/2006/relationships/font" Target="fonts/InterSemiBold-regular.fntdata"/><Relationship Id="rId51" Type="http://schemas.openxmlformats.org/officeDocument/2006/relationships/font" Target="fonts/Urbanist-bold.fntdata"/><Relationship Id="rId50" Type="http://schemas.openxmlformats.org/officeDocument/2006/relationships/font" Target="fonts/PlusJakartaSansSemiBold-boldItalic.fntdata"/><Relationship Id="rId53" Type="http://schemas.openxmlformats.org/officeDocument/2006/relationships/font" Target="fonts/PoppinsSemiBold-regular.fntdata"/><Relationship Id="rId52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55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54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Poppins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8c06716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98c0671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22" Type="http://schemas.openxmlformats.org/officeDocument/2006/relationships/image" Target="../media/image18.png"/><Relationship Id="rId21" Type="http://schemas.openxmlformats.org/officeDocument/2006/relationships/image" Target="../media/image21.png"/><Relationship Id="rId24" Type="http://schemas.openxmlformats.org/officeDocument/2006/relationships/image" Target="../media/image27.png"/><Relationship Id="rId23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26" Type="http://schemas.openxmlformats.org/officeDocument/2006/relationships/image" Target="../media/image22.png"/><Relationship Id="rId25" Type="http://schemas.openxmlformats.org/officeDocument/2006/relationships/image" Target="../media/image26.png"/><Relationship Id="rId27" Type="http://schemas.openxmlformats.org/officeDocument/2006/relationships/image" Target="../media/image30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Relationship Id="rId8" Type="http://schemas.openxmlformats.org/officeDocument/2006/relationships/image" Target="../media/image11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3" Type="http://schemas.openxmlformats.org/officeDocument/2006/relationships/image" Target="../media/image4.png"/><Relationship Id="rId12" Type="http://schemas.openxmlformats.org/officeDocument/2006/relationships/image" Target="../media/image7.png"/><Relationship Id="rId15" Type="http://schemas.openxmlformats.org/officeDocument/2006/relationships/image" Target="../media/image12.png"/><Relationship Id="rId14" Type="http://schemas.openxmlformats.org/officeDocument/2006/relationships/image" Target="../media/image17.png"/><Relationship Id="rId17" Type="http://schemas.openxmlformats.org/officeDocument/2006/relationships/image" Target="../media/image5.png"/><Relationship Id="rId16" Type="http://schemas.openxmlformats.org/officeDocument/2006/relationships/image" Target="../media/image19.png"/><Relationship Id="rId19" Type="http://schemas.openxmlformats.org/officeDocument/2006/relationships/image" Target="../media/image24.png"/><Relationship Id="rId1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Relationship Id="rId8" Type="http://schemas.openxmlformats.org/officeDocument/2006/relationships/image" Target="../media/image37.png"/><Relationship Id="rId10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Relationship Id="rId6" Type="http://schemas.openxmlformats.org/officeDocument/2006/relationships/image" Target="../media/image50.png"/><Relationship Id="rId7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90624" y="2350740"/>
            <a:ext cx="60108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233737" y="3408015"/>
            <a:ext cx="572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AI-Assisted Requirement Analysis &amp;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233737" y="4059435"/>
            <a:ext cx="572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prove the resolution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7903" y="2220657"/>
            <a:ext cx="1157636" cy="106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25" y="140000"/>
            <a:ext cx="2769412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192" y="60494"/>
            <a:ext cx="799525" cy="79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571500" y="333375"/>
            <a:ext cx="11049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Core AIRAM</a:t>
            </a:r>
            <a:endParaRPr b="0" sz="280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047750"/>
            <a:ext cx="3429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The Challenge</a:t>
            </a:r>
            <a:endParaRPr b="1" sz="1600">
              <a:solidFill>
                <a:srgbClr val="EF444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Manual validation of automotive requirements against standards introduces severe bottlenecks:</a:t>
            </a:r>
            <a:endParaRPr b="0" sz="105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571500" y="2047875"/>
            <a:ext cx="3390900" cy="1095525"/>
            <a:chOff x="571500" y="2047875"/>
            <a:chExt cx="3390900" cy="1095525"/>
          </a:xfrm>
        </p:grpSpPr>
        <p:sp>
          <p:nvSpPr>
            <p:cNvPr id="98" name="Google Shape;98;p14"/>
            <p:cNvSpPr/>
            <p:nvPr/>
          </p:nvSpPr>
          <p:spPr>
            <a:xfrm>
              <a:off x="571500" y="209550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723900" y="2047875"/>
              <a:ext cx="3238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01. Time-Consuming</a:t>
              </a:r>
              <a:endParaRPr b="1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Evaluating complex standard requirements manually demands massive engineering hours, severely delaying product time-to-market.</a:t>
              </a:r>
              <a:endParaRPr sz="10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571500" y="3286125"/>
            <a:ext cx="3390900" cy="1095525"/>
            <a:chOff x="571500" y="3286125"/>
            <a:chExt cx="3390900" cy="1095525"/>
          </a:xfrm>
        </p:grpSpPr>
        <p:sp>
          <p:nvSpPr>
            <p:cNvPr id="101" name="Google Shape;101;p14"/>
            <p:cNvSpPr/>
            <p:nvPr/>
          </p:nvSpPr>
          <p:spPr>
            <a:xfrm>
              <a:off x="571500" y="333375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723900" y="3286125"/>
              <a:ext cx="3238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02. Prone to Error</a:t>
              </a:r>
              <a:endParaRPr b="1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Human review struggles to guarantee total accuracy against dense specifications, increasing safety-critical compliance risks.</a:t>
              </a:r>
              <a:endParaRPr sz="10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571500" y="4524375"/>
            <a:ext cx="3390900" cy="1095525"/>
            <a:chOff x="571500" y="4524375"/>
            <a:chExt cx="3390900" cy="1095525"/>
          </a:xfrm>
        </p:grpSpPr>
        <p:sp>
          <p:nvSpPr>
            <p:cNvPr id="104" name="Google Shape;104;p14"/>
            <p:cNvSpPr/>
            <p:nvPr/>
          </p:nvSpPr>
          <p:spPr>
            <a:xfrm>
              <a:off x="571500" y="457200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723900" y="4524375"/>
              <a:ext cx="3238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03. Highly Inconsistent</a:t>
              </a:r>
              <a:endParaRPr b="1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Validation outcomes and syntax reviews lack uniformity, varying widely between isolated engineering teams.</a:t>
              </a:r>
              <a:endParaRPr sz="10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6" name="Google Shape;106;p14"/>
          <p:cNvSpPr txBox="1"/>
          <p:nvPr/>
        </p:nvSpPr>
        <p:spPr>
          <a:xfrm>
            <a:off x="4572000" y="1047750"/>
            <a:ext cx="7048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Current Capabilities</a:t>
            </a:r>
            <a:endParaRPr b="1" sz="1600">
              <a:solidFill>
                <a:srgbClr val="3B82F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unified suite for automated requirement auditing, intelligent bidirectional tracing, and standard-specific knowledge retrieval.</a:t>
            </a:r>
            <a:endParaRPr b="0" sz="105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7" name="Google Shape;107;p14"/>
          <p:cNvGrpSpPr/>
          <p:nvPr/>
        </p:nvGrpSpPr>
        <p:grpSpPr>
          <a:xfrm>
            <a:off x="4572000" y="2000250"/>
            <a:ext cx="2190900" cy="4095900"/>
            <a:chOff x="4572000" y="2000250"/>
            <a:chExt cx="2190900" cy="4095900"/>
          </a:xfrm>
        </p:grpSpPr>
        <p:sp>
          <p:nvSpPr>
            <p:cNvPr id="108" name="Google Shape;108;p14"/>
            <p:cNvSpPr/>
            <p:nvPr/>
          </p:nvSpPr>
          <p:spPr>
            <a:xfrm>
              <a:off x="4572000" y="2000250"/>
              <a:ext cx="2190900" cy="40959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5438775" y="2200275"/>
              <a:ext cx="457200" cy="4572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4572000" y="2229485"/>
              <a:ext cx="2190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0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4686300" y="2809875"/>
              <a:ext cx="1962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Quality Auditor</a:t>
              </a:r>
              <a:endParaRPr b="1" sz="1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Audits software requirements against guidelines with precision.</a:t>
              </a:r>
              <a:endParaRPr sz="9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Lato"/>
                <a:buChar char="●"/>
              </a:pPr>
              <a:r>
                <a:rPr lang="en-US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Intelligent RAG retrieval &amp; strict JSON rule enforcement.</a:t>
              </a:r>
              <a:endParaRPr sz="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Lato"/>
                <a:buChar char="●"/>
              </a:pPr>
              <a:r>
                <a:rPr lang="en-US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Precise PASS/REVIEW verdicts with detailed rationale.</a:t>
              </a:r>
              <a:endParaRPr sz="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12" name="Google Shape;112;p14"/>
          <p:cNvGrpSpPr/>
          <p:nvPr/>
        </p:nvGrpSpPr>
        <p:grpSpPr>
          <a:xfrm>
            <a:off x="7000875" y="2000250"/>
            <a:ext cx="2190900" cy="4095900"/>
            <a:chOff x="7000875" y="2000250"/>
            <a:chExt cx="2190900" cy="4095900"/>
          </a:xfrm>
        </p:grpSpPr>
        <p:sp>
          <p:nvSpPr>
            <p:cNvPr id="113" name="Google Shape;113;p14"/>
            <p:cNvSpPr/>
            <p:nvPr/>
          </p:nvSpPr>
          <p:spPr>
            <a:xfrm>
              <a:off x="7000875" y="2000250"/>
              <a:ext cx="2190900" cy="40959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7867650" y="2200275"/>
              <a:ext cx="457200" cy="457200"/>
            </a:xfrm>
            <a:prstGeom prst="ellipse">
              <a:avLst/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7000875" y="2229485"/>
              <a:ext cx="2190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sz="20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7115175" y="2809875"/>
              <a:ext cx="1962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Traceability Analyzer</a:t>
              </a:r>
              <a:endParaRPr b="1" sz="1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Evaluates bidirectional compliance between SWE.1 &amp; SWE.2.</a:t>
              </a:r>
              <a:endParaRPr sz="9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85750" lvl="0" marL="457200" rtl="0" algn="l">
                <a:spcBef>
                  <a:spcPts val="900"/>
                </a:spcBef>
                <a:spcAft>
                  <a:spcPts val="450"/>
                </a:spcAft>
                <a:buClr>
                  <a:srgbClr val="64748B"/>
                </a:buClr>
                <a:buSzPts val="900"/>
                <a:buFont typeface="Lato"/>
                <a:buChar char="●"/>
              </a:pPr>
              <a:r>
                <a:rPr lang="en-US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LLM semantic matching identifies valid links beyond keywords.</a:t>
              </a:r>
              <a:endParaRPr sz="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9429750" y="2000250"/>
            <a:ext cx="2190900" cy="4095900"/>
            <a:chOff x="9429750" y="2000250"/>
            <a:chExt cx="2190900" cy="4095900"/>
          </a:xfrm>
        </p:grpSpPr>
        <p:sp>
          <p:nvSpPr>
            <p:cNvPr id="118" name="Google Shape;118;p14"/>
            <p:cNvSpPr/>
            <p:nvPr/>
          </p:nvSpPr>
          <p:spPr>
            <a:xfrm>
              <a:off x="9429750" y="2000250"/>
              <a:ext cx="2190900" cy="4095900"/>
            </a:xfrm>
            <a:prstGeom prst="roundRect">
              <a:avLst>
                <a:gd fmla="val 695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10296525" y="2200275"/>
              <a:ext cx="457200" cy="4572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9429750" y="2258698"/>
              <a:ext cx="21909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b="0"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1" name="Google Shape;121;p14"/>
            <p:cNvSpPr txBox="1"/>
            <p:nvPr/>
          </p:nvSpPr>
          <p:spPr>
            <a:xfrm>
              <a:off x="9544050" y="2809875"/>
              <a:ext cx="1962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ChatBot</a:t>
              </a:r>
              <a:endParaRPr b="1" sz="1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rPr lang="en-US" sz="10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Chat interface to properly communicate "Which SWE.2s cover the trigger?" instead of filtering complex tables.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-US" sz="9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10629900" y="6457950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sz="1050">
              <a:solidFill>
                <a:srgbClr val="94A3B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/>
        </p:nvSpPr>
        <p:spPr>
          <a:xfrm>
            <a:off x="571500" y="333375"/>
            <a:ext cx="11049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Scope </a:t>
            </a:r>
            <a:endParaRPr b="0" sz="2800">
              <a:solidFill>
                <a:srgbClr val="0F172A"/>
              </a:solidFill>
              <a:latin typeface="Urbanist ExtraBold"/>
              <a:ea typeface="Urbanist ExtraBold"/>
              <a:cs typeface="Urbanist ExtraBold"/>
              <a:sym typeface="Urbanist ExtraBold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0706100" y="6505575"/>
            <a:ext cx="1009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TCS Confidential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9525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CURRENT SCOPE (WHAT AIRAM DELIVERS TODAY)</a:t>
            </a:r>
            <a:endParaRPr b="1" sz="11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30" name="Google Shape;130;p15"/>
          <p:cNvGrpSpPr/>
          <p:nvPr/>
        </p:nvGrpSpPr>
        <p:grpSpPr>
          <a:xfrm>
            <a:off x="571500" y="1333500"/>
            <a:ext cx="2533800" cy="2047800"/>
            <a:chOff x="0" y="0"/>
            <a:chExt cx="2533800" cy="2047800"/>
          </a:xfrm>
        </p:grpSpPr>
        <p:sp>
          <p:nvSpPr>
            <p:cNvPr id="131" name="Google Shape;131;p15"/>
            <p:cNvSpPr/>
            <p:nvPr/>
          </p:nvSpPr>
          <p:spPr>
            <a:xfrm>
              <a:off x="0" y="0"/>
              <a:ext cx="25338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1057275" y="228600"/>
              <a:ext cx="419100" cy="419100"/>
            </a:xfrm>
            <a:prstGeom prst="ellipse">
              <a:avLst/>
            </a:prstGeom>
            <a:solidFill>
              <a:srgbClr val="E6F4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 txBox="1"/>
            <p:nvPr/>
          </p:nvSpPr>
          <p:spPr>
            <a:xfrm>
              <a:off x="1076325" y="2768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list_alt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142875" y="762000"/>
              <a:ext cx="224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Requirements Management</a:t>
              </a:r>
              <a:endParaRPr b="1" sz="130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Ingest and organize requirements across SYS.1–SYS.3 and SWE.1–SWE.2 levels, with inline editing and status tracking.</a:t>
              </a:r>
              <a:endParaRPr b="0" sz="1000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36" name="Google Shape;136;p15"/>
          <p:cNvGrpSpPr/>
          <p:nvPr/>
        </p:nvGrpSpPr>
        <p:grpSpPr>
          <a:xfrm>
            <a:off x="3419475" y="1333500"/>
            <a:ext cx="2533800" cy="2047800"/>
            <a:chOff x="0" y="0"/>
            <a:chExt cx="2533800" cy="2047800"/>
          </a:xfrm>
        </p:grpSpPr>
        <p:sp>
          <p:nvSpPr>
            <p:cNvPr id="137" name="Google Shape;137;p15"/>
            <p:cNvSpPr/>
            <p:nvPr/>
          </p:nvSpPr>
          <p:spPr>
            <a:xfrm>
              <a:off x="0" y="0"/>
              <a:ext cx="25338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EC48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1057275" y="228600"/>
              <a:ext cx="419100" cy="419100"/>
            </a:xfrm>
            <a:prstGeom prst="ellipse">
              <a:avLst/>
            </a:prstGeom>
            <a:solidFill>
              <a:srgbClr val="FCE7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1076325" y="2768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000">
                <a:solidFill>
                  <a:srgbClr val="EC48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1" name="Google Shape;141;p15"/>
            <p:cNvSpPr txBox="1"/>
            <p:nvPr/>
          </p:nvSpPr>
          <p:spPr>
            <a:xfrm>
              <a:off x="142875" y="762000"/>
              <a:ext cx="224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Quality Analysis &amp; Correction</a:t>
              </a:r>
              <a:endParaRPr b="1" sz="130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AI checks against EARS syntax &amp; INCOSE rules with auto-suggested rewrites and rationale for violations.</a:t>
              </a:r>
              <a:endParaRPr b="0" sz="1000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42" name="Google Shape;142;p15"/>
          <p:cNvGrpSpPr/>
          <p:nvPr/>
        </p:nvGrpSpPr>
        <p:grpSpPr>
          <a:xfrm>
            <a:off x="6267450" y="1333500"/>
            <a:ext cx="2533800" cy="2047800"/>
            <a:chOff x="0" y="0"/>
            <a:chExt cx="2533800" cy="2047800"/>
          </a:xfrm>
        </p:grpSpPr>
        <p:sp>
          <p:nvSpPr>
            <p:cNvPr id="143" name="Google Shape;143;p15"/>
            <p:cNvSpPr/>
            <p:nvPr/>
          </p:nvSpPr>
          <p:spPr>
            <a:xfrm>
              <a:off x="0" y="0"/>
              <a:ext cx="25338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057275" y="228600"/>
              <a:ext cx="419100" cy="4191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1076325" y="2768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account_tree</a:t>
              </a:r>
              <a:endParaRPr sz="20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7" name="Google Shape;147;p15"/>
            <p:cNvSpPr txBox="1"/>
            <p:nvPr/>
          </p:nvSpPr>
          <p:spPr>
            <a:xfrm>
              <a:off x="142875" y="762000"/>
              <a:ext cx="224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Traceability Analysis</a:t>
              </a:r>
              <a:endParaRPr b="1" sz="130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Adjacent-layer link evaluation (e.g., SYS.1 to SYS.2), gap detection, and suggested missing links.</a:t>
              </a:r>
              <a:endParaRPr b="0" sz="1000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48" name="Google Shape;148;p15"/>
          <p:cNvGrpSpPr/>
          <p:nvPr/>
        </p:nvGrpSpPr>
        <p:grpSpPr>
          <a:xfrm>
            <a:off x="9115425" y="1333500"/>
            <a:ext cx="2533800" cy="2047800"/>
            <a:chOff x="0" y="0"/>
            <a:chExt cx="2533800" cy="204780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25338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057275" y="228600"/>
              <a:ext cx="419100" cy="4191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 txBox="1"/>
            <p:nvPr/>
          </p:nvSpPr>
          <p:spPr>
            <a:xfrm>
              <a:off x="1076325" y="2768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0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3" name="Google Shape;153;p15"/>
            <p:cNvSpPr txBox="1"/>
            <p:nvPr/>
          </p:nvSpPr>
          <p:spPr>
            <a:xfrm>
              <a:off x="142875" y="762000"/>
              <a:ext cx="224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Configurable Knowledge</a:t>
              </a:r>
              <a:endParaRPr b="1" sz="130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Adaptable analysis modes (Strict, RAG, Custom LLM) grounded in project- or OEM-specific reference docs.</a:t>
              </a:r>
              <a:endParaRPr b="0" sz="1000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sp>
        <p:nvSpPr>
          <p:cNvPr id="154" name="Google Shape;154;p15"/>
          <p:cNvSpPr txBox="1"/>
          <p:nvPr/>
        </p:nvSpPr>
        <p:spPr>
          <a:xfrm>
            <a:off x="571500" y="366712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FUTURE SCOPE (REALISTIC ROADMAP)</a:t>
            </a:r>
            <a:endParaRPr b="1" sz="11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55" name="Google Shape;155;p15"/>
          <p:cNvGrpSpPr/>
          <p:nvPr/>
        </p:nvGrpSpPr>
        <p:grpSpPr>
          <a:xfrm>
            <a:off x="571500" y="4000500"/>
            <a:ext cx="2533800" cy="2047800"/>
            <a:chOff x="0" y="0"/>
            <a:chExt cx="2533800" cy="2047800"/>
          </a:xfrm>
        </p:grpSpPr>
        <p:sp>
          <p:nvSpPr>
            <p:cNvPr id="156" name="Google Shape;156;p15"/>
            <p:cNvSpPr/>
            <p:nvPr/>
          </p:nvSpPr>
          <p:spPr>
            <a:xfrm>
              <a:off x="0" y="0"/>
              <a:ext cx="25338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1057275" y="228600"/>
              <a:ext cx="419100" cy="419100"/>
            </a:xfrm>
            <a:prstGeom prst="ellipse">
              <a:avLst/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 txBox="1"/>
            <p:nvPr/>
          </p:nvSpPr>
          <p:spPr>
            <a:xfrm>
              <a:off x="1076325" y="2768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text_snippet</a:t>
              </a:r>
              <a:endParaRPr sz="20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0" name="Google Shape;160;p15"/>
            <p:cNvSpPr txBox="1"/>
            <p:nvPr/>
          </p:nvSpPr>
          <p:spPr>
            <a:xfrm>
              <a:off x="142875" y="762000"/>
              <a:ext cx="224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Test Case Generation</a:t>
              </a:r>
              <a:endParaRPr b="1" sz="130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Auto-generate test cases directly from validated requirements (SWE.4/SWE.5), pre-linked for traceability.</a:t>
              </a:r>
              <a:endParaRPr b="0" sz="1000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61" name="Google Shape;161;p15"/>
          <p:cNvGrpSpPr/>
          <p:nvPr/>
        </p:nvGrpSpPr>
        <p:grpSpPr>
          <a:xfrm>
            <a:off x="3419475" y="4000500"/>
            <a:ext cx="2533800" cy="2047800"/>
            <a:chOff x="0" y="0"/>
            <a:chExt cx="2533800" cy="2047800"/>
          </a:xfrm>
        </p:grpSpPr>
        <p:sp>
          <p:nvSpPr>
            <p:cNvPr id="162" name="Google Shape;162;p15"/>
            <p:cNvSpPr/>
            <p:nvPr/>
          </p:nvSpPr>
          <p:spPr>
            <a:xfrm>
              <a:off x="0" y="0"/>
              <a:ext cx="25338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1057275" y="228600"/>
              <a:ext cx="419100" cy="419100"/>
            </a:xfrm>
            <a:prstGeom prst="ellipse">
              <a:avLst/>
            </a:prstGeom>
            <a:solidFill>
              <a:srgbClr val="E0F7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 txBox="1"/>
            <p:nvPr/>
          </p:nvSpPr>
          <p:spPr>
            <a:xfrm>
              <a:off x="1076325" y="2768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published_with_changes</a:t>
              </a:r>
              <a:endParaRPr sz="20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6" name="Google Shape;166;p15"/>
            <p:cNvSpPr txBox="1"/>
            <p:nvPr/>
          </p:nvSpPr>
          <p:spPr>
            <a:xfrm>
              <a:off x="142875" y="762000"/>
              <a:ext cx="224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Change Impact Analysis</a:t>
              </a:r>
              <a:endParaRPr b="1" sz="130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Automatically flag downstream impacts (design elements, test cases) when a requirement is edited.</a:t>
              </a:r>
              <a:endParaRPr b="0" sz="1000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6267450" y="4000500"/>
            <a:ext cx="2533800" cy="2047800"/>
            <a:chOff x="0" y="0"/>
            <a:chExt cx="2533800" cy="2047800"/>
          </a:xfrm>
        </p:grpSpPr>
        <p:sp>
          <p:nvSpPr>
            <p:cNvPr id="168" name="Google Shape;168;p15"/>
            <p:cNvSpPr/>
            <p:nvPr/>
          </p:nvSpPr>
          <p:spPr>
            <a:xfrm>
              <a:off x="0" y="0"/>
              <a:ext cx="25338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057275" y="22860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 txBox="1"/>
            <p:nvPr/>
          </p:nvSpPr>
          <p:spPr>
            <a:xfrm>
              <a:off x="1076325" y="2768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integration_instructions</a:t>
              </a:r>
              <a:endParaRPr sz="20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2" name="Google Shape;172;p15"/>
            <p:cNvSpPr txBox="1"/>
            <p:nvPr/>
          </p:nvSpPr>
          <p:spPr>
            <a:xfrm>
              <a:off x="142875" y="762000"/>
              <a:ext cx="224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Design Integration</a:t>
              </a:r>
              <a:endParaRPr b="1" sz="130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Ingest architectural (SWE.2) &amp; detailed (SWE.3) design artifacts with AI quality checks and bidirectional ALM sync.</a:t>
              </a:r>
              <a:endParaRPr b="0" sz="1000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73" name="Google Shape;173;p15"/>
          <p:cNvGrpSpPr/>
          <p:nvPr/>
        </p:nvGrpSpPr>
        <p:grpSpPr>
          <a:xfrm>
            <a:off x="9115425" y="4000500"/>
            <a:ext cx="2533800" cy="2047800"/>
            <a:chOff x="0" y="0"/>
            <a:chExt cx="2533800" cy="2047800"/>
          </a:xfrm>
        </p:grpSpPr>
        <p:sp>
          <p:nvSpPr>
            <p:cNvPr id="174" name="Google Shape;174;p15"/>
            <p:cNvSpPr/>
            <p:nvPr/>
          </p:nvSpPr>
          <p:spPr>
            <a:xfrm>
              <a:off x="0" y="0"/>
              <a:ext cx="2533800" cy="2047800"/>
            </a:xfrm>
            <a:prstGeom prst="roundRect">
              <a:avLst>
                <a:gd fmla="val 74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0" y="0"/>
              <a:ext cx="2533800" cy="57300"/>
            </a:xfrm>
            <a:prstGeom prst="roundRect">
              <a:avLst>
                <a:gd fmla="val 50000" name="adj"/>
              </a:avLst>
            </a:prstGeom>
            <a:solidFill>
              <a:srgbClr val="F9731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1057275" y="228600"/>
              <a:ext cx="419100" cy="419100"/>
            </a:xfrm>
            <a:prstGeom prst="ellipse">
              <a:avLst/>
            </a:prstGeom>
            <a:solidFill>
              <a:srgbClr val="FFEDD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 txBox="1"/>
            <p:nvPr/>
          </p:nvSpPr>
          <p:spPr>
            <a:xfrm>
              <a:off x="1076325" y="2768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9731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2000">
                <a:solidFill>
                  <a:srgbClr val="F9731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8" name="Google Shape;178;p15"/>
            <p:cNvSpPr txBox="1"/>
            <p:nvPr/>
          </p:nvSpPr>
          <p:spPr>
            <a:xfrm>
              <a:off x="142875" y="762000"/>
              <a:ext cx="2247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Urbanist"/>
                  <a:ea typeface="Urbanist"/>
                  <a:cs typeface="Urbanist"/>
                  <a:sym typeface="Urbanist"/>
                </a:rPr>
                <a:t>Governance Dashboard</a:t>
              </a:r>
              <a:endParaRPr b="1" sz="1300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64748B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ASPICE Process Compliance Dashboard with real-time maturity indicators and code-level traceability workflows.</a:t>
              </a:r>
              <a:endParaRPr b="0" sz="1000">
                <a:solidFill>
                  <a:srgbClr val="64748B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141" y="770199"/>
            <a:ext cx="2590800" cy="2398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4541" y="770199"/>
            <a:ext cx="2590800" cy="2398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3941" y="770199"/>
            <a:ext cx="2590800" cy="2398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43341" y="770199"/>
            <a:ext cx="2590800" cy="2398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5141" y="3854215"/>
            <a:ext cx="2590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04541" y="3854215"/>
            <a:ext cx="2590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23941" y="3854215"/>
            <a:ext cx="2590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43341" y="3854215"/>
            <a:ext cx="25908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108841" y="91238"/>
            <a:ext cx="116016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Future Roadmap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13293695" y="5277721"/>
            <a:ext cx="99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937591" y="3501790"/>
            <a:ext cx="9944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4" name="Google Shape;194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94791" y="105594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670414" y="1779849"/>
            <a:ext cx="202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 Case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575641" y="2332299"/>
            <a:ext cx="220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Auto-draft verification tests (SWE.4-6) linked directly back to the source requirement ID.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7" name="Google Shape;19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14191" y="105594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3339796" y="1779849"/>
            <a:ext cx="232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Change-Impact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3395041" y="2339740"/>
            <a:ext cx="220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Instantly flags when downstream SWE.2s and test cases go stale due to an SWE.1 edit.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0" name="Google Shape;200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33591" y="105594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 txBox="1"/>
          <p:nvPr/>
        </p:nvSpPr>
        <p:spPr>
          <a:xfrm>
            <a:off x="6354220" y="1779849"/>
            <a:ext cx="193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Diagram Generation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6214441" y="2332299"/>
            <a:ext cx="220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Automatically draft sequence, class, and state diagrams (Sysml) from requirements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3" name="Google Shape;203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52991" y="105594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6"/>
          <p:cNvSpPr txBox="1"/>
          <p:nvPr/>
        </p:nvSpPr>
        <p:spPr>
          <a:xfrm>
            <a:off x="9123614" y="1779849"/>
            <a:ext cx="203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Diagram 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9033841" y="2332299"/>
            <a:ext cx="220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Parses diagram elements visually and flags missing gaps or orphans against requirements.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6" name="Google Shape;206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394791" y="413996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 txBox="1"/>
          <p:nvPr/>
        </p:nvSpPr>
        <p:spPr>
          <a:xfrm>
            <a:off x="545399" y="4863865"/>
            <a:ext cx="2270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Role-Based Dashboards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575641" y="5416315"/>
            <a:ext cx="220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Separate, tailored views and controls for Authors, Reviewers, and Team Leads.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9" name="Google Shape;209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214191" y="413996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6"/>
          <p:cNvSpPr txBox="1"/>
          <p:nvPr/>
        </p:nvSpPr>
        <p:spPr>
          <a:xfrm>
            <a:off x="4104891" y="4863865"/>
            <a:ext cx="79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Chatbot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3395041" y="5416315"/>
            <a:ext cx="2209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Chat interface to properly communicate "Which SWE.2s cover the trigger?" instead of filtering complex tables.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2" name="Google Shape;212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033591" y="413996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6"/>
          <p:cNvSpPr txBox="1"/>
          <p:nvPr/>
        </p:nvSpPr>
        <p:spPr>
          <a:xfrm>
            <a:off x="6374222" y="4863865"/>
            <a:ext cx="189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Teams / Slack Alerts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6214441" y="5416315"/>
            <a:ext cx="22098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Send instant notifications Or raise tickets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5" name="Google Shape;215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852991" y="413996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6"/>
          <p:cNvSpPr txBox="1"/>
          <p:nvPr/>
        </p:nvSpPr>
        <p:spPr>
          <a:xfrm>
            <a:off x="9228627" y="4863865"/>
            <a:ext cx="182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Baseline Versioning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9033841" y="5416315"/>
            <a:ext cx="220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Freeze an approved requirement set as an immutable milestone snapshot for ASPICE audits.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8" name="Google Shape;218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571003" y="1217874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342778" y="1217874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181228" y="1217874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000628" y="1217874"/>
            <a:ext cx="2762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523378" y="4301890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342778" y="4301890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209803" y="4301890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9981578" y="4301890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3656978" y="3406540"/>
            <a:ext cx="45053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6"/>
          <p:cNvSpPr txBox="1"/>
          <p:nvPr/>
        </p:nvSpPr>
        <p:spPr>
          <a:xfrm>
            <a:off x="10629900" y="655320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5827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2402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0952" y="2457450"/>
            <a:ext cx="11049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7527" y="3571875"/>
            <a:ext cx="2571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6327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 txBox="1"/>
          <p:nvPr/>
        </p:nvSpPr>
        <p:spPr>
          <a:xfrm>
            <a:off x="3598139" y="3867150"/>
            <a:ext cx="2200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77B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Multi-Agent Orchestrator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3650527" y="4514850"/>
            <a:ext cx="20955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Specialized AI agents for syntax checks, safety rule validation, and architectural tracing instead of relying on a single script.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9" name="Google Shape;2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41452" y="2533650"/>
            <a:ext cx="7239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7"/>
          <p:cNvSpPr txBox="1"/>
          <p:nvPr/>
        </p:nvSpPr>
        <p:spPr>
          <a:xfrm>
            <a:off x="6718291" y="3867150"/>
            <a:ext cx="177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527A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LLM Audit Trail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6555652" y="4267200"/>
            <a:ext cx="2095500" cy="15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 every model version, prompt hash, and confidence score per evaluation—providing full transparency beyond simple PASS/REVIEW flags.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2" name="Google Shape;24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17302" y="2733675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41477" y="2733675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 txBox="1"/>
          <p:nvPr/>
        </p:nvSpPr>
        <p:spPr>
          <a:xfrm>
            <a:off x="190500" y="762000"/>
            <a:ext cx="11811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0" i="0" lang="en-US" sz="3900" u="none" cap="none" strike="noStrike">
                <a:solidFill>
                  <a:srgbClr val="1E293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Enterprise Governance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3481387" y="1485900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AUDITABILITY AND INFRASTRUCTURE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8"/>
          <p:cNvSpPr txBox="1"/>
          <p:nvPr/>
        </p:nvSpPr>
        <p:spPr>
          <a:xfrm>
            <a:off x="2286000" y="21955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Frontend Framework: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Angular 22 framework with TypeScript, utilizing a clean, component-based architecture and real-time SSE streaming for long-running processes.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2286000" y="30337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Backend Architecture: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High-performance FastAPI application written in Python 3.10+, backed by an embedded SQLite database (with Postgres readiness for cloud).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2286000" y="38719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&amp; Foundation Models: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Powered by the NVIDIA NIM API, utilizing the state-of-the-art Llama 3.3 Nemotron 49B model and nv-e5-v5 for highly accurate embeddings.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2286000" y="47101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Vector Storage: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Integrates seamlessly with Qdrant Cloud for robust semantic search, context retrieval, and fast document metadata filtering.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6" name="Google Shape;2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240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62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00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386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10629900" y="6457950"/>
            <a:ext cx="11811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33587"/>
            <a:ext cx="3429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33587"/>
            <a:ext cx="3429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9"/>
          <p:cNvSpPr txBox="1"/>
          <p:nvPr/>
        </p:nvSpPr>
        <p:spPr>
          <a:xfrm>
            <a:off x="571500" y="4548187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Dashboard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571500" y="4957762"/>
            <a:ext cx="342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 compliance trends and execution history.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4381500" y="4548187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Evaluation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4381500" y="4957762"/>
            <a:ext cx="342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Upload files and control real-time analysis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8944282" y="4554487"/>
            <a:ext cx="360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Knowledge Config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9"/>
          <p:cNvSpPr txBox="1"/>
          <p:nvPr/>
        </p:nvSpPr>
        <p:spPr>
          <a:xfrm>
            <a:off x="8913550" y="4962412"/>
            <a:ext cx="342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 standards and evaluate semantic retrieval.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Platform Interface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19"/>
          <p:cNvPicPr preferRelativeResize="0"/>
          <p:nvPr/>
        </p:nvPicPr>
        <p:blipFill rotWithShape="1">
          <a:blip r:embed="rId5">
            <a:alphaModFix/>
          </a:blip>
          <a:srcRect b="0" l="0" r="7544" t="0"/>
          <a:stretch/>
        </p:blipFill>
        <p:spPr>
          <a:xfrm>
            <a:off x="121392" y="1912163"/>
            <a:ext cx="4065278" cy="23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/>
          <p:cNvPicPr preferRelativeResize="0"/>
          <p:nvPr/>
        </p:nvPicPr>
        <p:blipFill rotWithShape="1">
          <a:blip r:embed="rId6">
            <a:alphaModFix/>
          </a:blip>
          <a:srcRect b="0" l="0" r="4862" t="0"/>
          <a:stretch/>
        </p:blipFill>
        <p:spPr>
          <a:xfrm>
            <a:off x="4440342" y="2003402"/>
            <a:ext cx="4065277" cy="234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9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55325" y="1989375"/>
            <a:ext cx="3326952" cy="194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/>
        </p:nvSpPr>
        <p:spPr>
          <a:xfrm>
            <a:off x="0" y="2719318"/>
            <a:ext cx="12192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Thank you</a:t>
            </a:r>
            <a:endParaRPr b="1" i="0" sz="72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4" name="Google Shape;2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25" y="140000"/>
            <a:ext cx="2769412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57600" y="59265"/>
            <a:ext cx="799525" cy="79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/>
        </p:nvSpPr>
        <p:spPr>
          <a:xfrm>
            <a:off x="571500" y="571500"/>
            <a:ext cx="5550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Capability: </a:t>
            </a:r>
            <a:r>
              <a:rPr b="1" i="0" lang="en-US" sz="3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Quality Auditor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571500" y="23145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core evaluation engine audits individual software requirements against strict engineering guidelines with unprecedented accuracy.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571500" y="341947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supports intelligent RAG retrieval, strict JSON rule enforcement, and custom evaluation contexts to deliver precise PASS/REVIEW verdicts with detailed, structured rationale.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71500" y="48291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secondary LLM recheck mechanism ensures subtle violations missed in the first pass are captured, guaranteeing assessment rigor.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21"/>
          <p:cNvPicPr preferRelativeResize="0"/>
          <p:nvPr/>
        </p:nvPicPr>
        <p:blipFill rotWithShape="1">
          <a:blip r:embed="rId3">
            <a:alphaModFix/>
          </a:blip>
          <a:srcRect b="0" l="-2447" r="5744" t="0"/>
          <a:stretch/>
        </p:blipFill>
        <p:spPr>
          <a:xfrm>
            <a:off x="6122100" y="106125"/>
            <a:ext cx="6058424" cy="65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1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"/>
          <p:cNvSpPr txBox="1"/>
          <p:nvPr/>
        </p:nvSpPr>
        <p:spPr>
          <a:xfrm>
            <a:off x="704850" y="1966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809625" y="19669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Evaluates bidirectional tracing compliance between High-Level (SWE.1) and Low-Level (SWE.2) requirements effortlessly.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704850" y="3071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809625" y="3071812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Utilizes Large Language Model semantic matching to accurately identify valid requirement links, going beyond simple keyword searches.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704850" y="41767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809625" y="41767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Automatically flags orphaned SWE.2 requirements lacking parent HLR coverage to prevent scope creep.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704850" y="49768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809625" y="497681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Processes large datasets efficiently with intelligent context window management and batch execution.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295200" y="509500"/>
            <a:ext cx="11601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Capability: Traceability</a:t>
            </a:r>
            <a:endParaRPr b="1" i="0" sz="315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Analyzer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6625" y="694225"/>
            <a:ext cx="5408501" cy="562410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2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66678"/>
            <a:ext cx="3838739" cy="21427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213" y="1485993"/>
            <a:ext cx="3838739" cy="214271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857661" y="4552840"/>
            <a:ext cx="34296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9"/>
              <a:buFont typeface="Arial"/>
              <a:buNone/>
            </a:pPr>
            <a:r>
              <a:rPr b="0" i="0" lang="en-US" sz="1539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Intelligent Ingestion</a:t>
            </a:r>
            <a:endParaRPr b="0" i="0" sz="10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857661" y="4901818"/>
            <a:ext cx="32664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n-US" sz="1099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Progressively parses and intelligently chunks complex documentation including PDFs, Excel sheets, CSVs, JSON, and TXT files. It leverages cutting-edge extraction models to embed data into a highly scalable Qdrant vector database.</a:t>
            </a:r>
            <a:endParaRPr b="0" i="0" sz="10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890373" y="1772155"/>
            <a:ext cx="34296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9"/>
              <a:buFont typeface="Arial"/>
              <a:buNone/>
            </a:pPr>
            <a:r>
              <a:rPr b="0" i="0" lang="en-US" sz="1539" u="none" cap="none" strike="noStrike">
                <a:solidFill>
                  <a:srgbClr val="0284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Semantic Retrieval</a:t>
            </a:r>
            <a:endParaRPr b="0" i="0" sz="10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890373" y="2121133"/>
            <a:ext cx="32664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"/>
              <a:buFont typeface="Arial"/>
              <a:buNone/>
            </a:pPr>
            <a:r>
              <a:rPr b="0" i="0" lang="en-US" sz="1099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highly relevant engineering guidelines as direct context for LLM audits. This ensures that automated compliance checks are deeply rooted in your organization's specific standards, rather than generic AI knowledge.</a:t>
            </a:r>
            <a:endParaRPr b="0" i="0" sz="10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Knowledge (RAG)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10629900" y="6457950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TCS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1575" y="1772150"/>
            <a:ext cx="7140394" cy="416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