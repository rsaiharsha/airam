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Inter SemiBold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Inter ExtraBold"/>
      <p:bold r:id="rId24"/>
      <p:boldItalic r:id="rId25"/>
    </p:embeddedFont>
    <p:embeddedFont>
      <p:font typeface="Inter Medium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InterExtraBold-bold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regular.fntdata"/><Relationship Id="rId25" Type="http://schemas.openxmlformats.org/officeDocument/2006/relationships/font" Target="fonts/InterExtraBold-boldItalic.fntdata"/><Relationship Id="rId28" Type="http://schemas.openxmlformats.org/officeDocument/2006/relationships/font" Target="fonts/InterMedium-italic.fntdata"/><Relationship Id="rId27" Type="http://schemas.openxmlformats.org/officeDocument/2006/relationships/font" Target="fonts/Inter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SemiBold-bold.fntdata"/><Relationship Id="rId16" Type="http://schemas.openxmlformats.org/officeDocument/2006/relationships/font" Target="fonts/InterSemiBold-regular.fntdata"/><Relationship Id="rId19" Type="http://schemas.openxmlformats.org/officeDocument/2006/relationships/font" Target="fonts/InterSemiBold-boldItalic.fntdata"/><Relationship Id="rId18" Type="http://schemas.openxmlformats.org/officeDocument/2006/relationships/font" Target="fonts/Inter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2.png"/><Relationship Id="rId4" Type="http://schemas.openxmlformats.org/officeDocument/2006/relationships/image" Target="../media/image42.png"/><Relationship Id="rId11" Type="http://schemas.openxmlformats.org/officeDocument/2006/relationships/image" Target="../media/image46.png"/><Relationship Id="rId10" Type="http://schemas.openxmlformats.org/officeDocument/2006/relationships/image" Target="../media/image36.png"/><Relationship Id="rId9" Type="http://schemas.openxmlformats.org/officeDocument/2006/relationships/image" Target="../media/image34.png"/><Relationship Id="rId5" Type="http://schemas.openxmlformats.org/officeDocument/2006/relationships/image" Target="../media/image41.png"/><Relationship Id="rId6" Type="http://schemas.openxmlformats.org/officeDocument/2006/relationships/image" Target="../media/image39.png"/><Relationship Id="rId7" Type="http://schemas.openxmlformats.org/officeDocument/2006/relationships/image" Target="../media/image44.png"/><Relationship Id="rId8" Type="http://schemas.openxmlformats.org/officeDocument/2006/relationships/image" Target="../media/image3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18.png"/><Relationship Id="rId22" Type="http://schemas.openxmlformats.org/officeDocument/2006/relationships/image" Target="../media/image24.png"/><Relationship Id="rId21" Type="http://schemas.openxmlformats.org/officeDocument/2006/relationships/image" Target="../media/image19.png"/><Relationship Id="rId24" Type="http://schemas.openxmlformats.org/officeDocument/2006/relationships/image" Target="../media/image21.png"/><Relationship Id="rId23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5.png"/><Relationship Id="rId26" Type="http://schemas.openxmlformats.org/officeDocument/2006/relationships/image" Target="../media/image26.png"/><Relationship Id="rId25" Type="http://schemas.openxmlformats.org/officeDocument/2006/relationships/image" Target="../media/image22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9.png"/><Relationship Id="rId13" Type="http://schemas.openxmlformats.org/officeDocument/2006/relationships/image" Target="../media/image13.png"/><Relationship Id="rId12" Type="http://schemas.openxmlformats.org/officeDocument/2006/relationships/image" Target="../media/image11.png"/><Relationship Id="rId15" Type="http://schemas.openxmlformats.org/officeDocument/2006/relationships/image" Target="../media/image16.png"/><Relationship Id="rId14" Type="http://schemas.openxmlformats.org/officeDocument/2006/relationships/image" Target="../media/image12.png"/><Relationship Id="rId17" Type="http://schemas.openxmlformats.org/officeDocument/2006/relationships/image" Target="../media/image15.png"/><Relationship Id="rId16" Type="http://schemas.openxmlformats.org/officeDocument/2006/relationships/image" Target="../media/image17.png"/><Relationship Id="rId19" Type="http://schemas.openxmlformats.org/officeDocument/2006/relationships/image" Target="../media/image45.png"/><Relationship Id="rId18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Relationship Id="rId9" Type="http://schemas.openxmlformats.org/officeDocument/2006/relationships/image" Target="../media/image33.png"/><Relationship Id="rId5" Type="http://schemas.openxmlformats.org/officeDocument/2006/relationships/image" Target="../media/image29.png"/><Relationship Id="rId6" Type="http://schemas.openxmlformats.org/officeDocument/2006/relationships/image" Target="../media/image37.png"/><Relationship Id="rId7" Type="http://schemas.openxmlformats.org/officeDocument/2006/relationships/image" Target="../media/image35.png"/><Relationship Id="rId8" Type="http://schemas.openxmlformats.org/officeDocument/2006/relationships/image" Target="../media/image30.png"/><Relationship Id="rId11" Type="http://schemas.openxmlformats.org/officeDocument/2006/relationships/image" Target="../media/image28.png"/><Relationship Id="rId10" Type="http://schemas.openxmlformats.org/officeDocument/2006/relationships/image" Target="../media/image5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0.png"/><Relationship Id="rId4" Type="http://schemas.openxmlformats.org/officeDocument/2006/relationships/image" Target="../media/image43.png"/><Relationship Id="rId5" Type="http://schemas.openxmlformats.org/officeDocument/2006/relationships/image" Target="../media/image48.png"/><Relationship Id="rId6" Type="http://schemas.openxmlformats.org/officeDocument/2006/relationships/image" Target="../media/image40.png"/><Relationship Id="rId7" Type="http://schemas.openxmlformats.org/officeDocument/2006/relationships/image" Target="../media/image49.png"/><Relationship Id="rId8" Type="http://schemas.openxmlformats.org/officeDocument/2006/relationships/image" Target="../media/image4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0353675" y="6410325"/>
            <a:ext cx="10763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TCS Confidential</a:t>
            </a:r>
            <a:endParaRPr/>
          </a:p>
        </p:txBody>
      </p:sp>
      <p:pic>
        <p:nvPicPr>
          <p:cNvPr descr="image.png" id="85" name="Google Shape;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9750" y="2071687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350781" y="3119437"/>
            <a:ext cx="3490436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DiagTrace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550556" y="4138612"/>
            <a:ext cx="7090886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Enterprise Vehicle Diagnostics Portal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AI-Powered DTC Management &amp; Root Cause Analysis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/>
          <p:cNvPicPr preferRelativeResize="0"/>
          <p:nvPr/>
        </p:nvPicPr>
        <p:blipFill rotWithShape="1">
          <a:blip r:embed="rId3">
            <a:alphaModFix/>
          </a:blip>
          <a:srcRect b="357" l="0" r="0" t="357"/>
          <a:stretch/>
        </p:blipFill>
        <p:spPr>
          <a:xfrm>
            <a:off x="6381750" y="2286000"/>
            <a:ext cx="5048400" cy="13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/>
          <p:cNvPicPr preferRelativeResize="0"/>
          <p:nvPr/>
        </p:nvPicPr>
        <p:blipFill rotWithShape="1">
          <a:blip r:embed="rId4">
            <a:alphaModFix/>
          </a:blip>
          <a:srcRect b="357" l="0" r="0" t="357"/>
          <a:stretch/>
        </p:blipFill>
        <p:spPr>
          <a:xfrm>
            <a:off x="6381750" y="3743325"/>
            <a:ext cx="5048400" cy="13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/>
          <p:cNvPicPr preferRelativeResize="0"/>
          <p:nvPr/>
        </p:nvPicPr>
        <p:blipFill rotWithShape="1">
          <a:blip r:embed="rId5">
            <a:alphaModFix/>
          </a:blip>
          <a:srcRect b="426" l="0" r="0" t="416"/>
          <a:stretch/>
        </p:blipFill>
        <p:spPr>
          <a:xfrm>
            <a:off x="6381750" y="5200650"/>
            <a:ext cx="5048400" cy="11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62000" y="476250"/>
            <a:ext cx="10668000" cy="45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96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Core DiagTrace</a:t>
            </a:r>
            <a:endParaRPr b="0" sz="296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0353675" y="6410325"/>
            <a:ext cx="1076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TCS Confidential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62000" y="1238250"/>
            <a:ext cx="47625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THE CHALLENGE</a:t>
            </a:r>
            <a:endParaRPr b="1" sz="1100">
              <a:solidFill>
                <a:srgbClr val="3B82F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1571625"/>
            <a:ext cx="47625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Manual diagnostic log review across large vehicle fleets introduces severe bottlenecks:</a:t>
            </a:r>
            <a:endParaRPr b="0"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6381750" y="1238250"/>
            <a:ext cx="50484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CURRENT CAPABILITIES</a:t>
            </a:r>
            <a:endParaRPr b="1" sz="1100">
              <a:solidFill>
                <a:srgbClr val="10B98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6381750" y="1571625"/>
            <a:ext cx="50484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unified suite for automated DTC ingestion, agentic root cause analysis, and standards-grounded diagnostic knowledge retrieval.</a:t>
            </a:r>
            <a:endParaRPr b="0"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762000" y="2333625"/>
            <a:ext cx="5715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01</a:t>
            </a:r>
            <a:endParaRPr b="0" sz="2800">
              <a:solidFill>
                <a:srgbClr val="3B82F6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3667125"/>
            <a:ext cx="5715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02</a:t>
            </a:r>
            <a:endParaRPr b="0" sz="2800">
              <a:solidFill>
                <a:srgbClr val="3B82F6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762000" y="5000625"/>
            <a:ext cx="5715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03</a:t>
            </a:r>
            <a:endParaRPr b="0" sz="2800">
              <a:solidFill>
                <a:srgbClr val="3B82F6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2476500"/>
            <a:ext cx="476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/>
          <p:cNvPicPr preferRelativeResize="0"/>
          <p:nvPr/>
        </p:nvPicPr>
        <p:blipFill rotWithShape="1">
          <a:blip r:embed="rId7">
            <a:alphaModFix/>
          </a:blip>
          <a:srcRect b="980" l="0" r="0" t="980"/>
          <a:stretch/>
        </p:blipFill>
        <p:spPr>
          <a:xfrm>
            <a:off x="6581775" y="3933825"/>
            <a:ext cx="476400" cy="4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 rotWithShape="1">
          <a:blip r:embed="rId8">
            <a:alphaModFix/>
          </a:blip>
          <a:srcRect b="980" l="0" r="0" t="980"/>
          <a:stretch/>
        </p:blipFill>
        <p:spPr>
          <a:xfrm>
            <a:off x="6581775" y="5343525"/>
            <a:ext cx="47640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1428750" y="2333625"/>
            <a:ext cx="40959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Time-Consuming</a:t>
            </a:r>
            <a:endParaRPr b="1" sz="14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1428750" y="2647950"/>
            <a:ext cx="4095900" cy="5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Engineers manually sift through hundreds of DTCs across CSV, TXT, and LOG files per program, delaying root cause identification.</a:t>
            </a:r>
            <a:endParaRPr b="0" sz="11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1428750" y="3667125"/>
            <a:ext cx="40959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Hard to Correlate</a:t>
            </a:r>
            <a:endParaRPr b="1" sz="14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1428750" y="3981450"/>
            <a:ext cx="4095900" cy="5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Faults from different ECU modules that occur together (bus/harness/gateway issues) are nearly impossible to spot manually across large log volumes.</a:t>
            </a:r>
            <a:endParaRPr b="0" sz="11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428750" y="5000625"/>
            <a:ext cx="40959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Inconsistent Diagnosis</a:t>
            </a:r>
            <a:endParaRPr b="1" sz="14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1428750" y="5314950"/>
            <a:ext cx="4095900" cy="5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Root cause conclusions vary by engineer experience and available reference material, with no shared, auditable knowledge base.</a:t>
            </a:r>
            <a:endParaRPr b="0" sz="11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3" name="Google Shape;11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24650" y="261937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7239000" y="2428875"/>
            <a:ext cx="4000500" cy="192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Root Cause Engine</a:t>
            </a:r>
            <a:endParaRPr b="1" sz="12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7239000" y="2705100"/>
            <a:ext cx="39528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Runs a fleet-wide, agentic AI analysis across all diagnostic records. Multi-step ReAct loop with targeted RAG retrieval and co-occurrence fault clustering across modules.</a:t>
            </a:r>
            <a:endParaRPr b="0"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10">
            <a:alphaModFix/>
          </a:blip>
          <a:srcRect b="0" l="778" r="787" t="0"/>
          <a:stretch/>
        </p:blipFill>
        <p:spPr>
          <a:xfrm>
            <a:off x="6748463" y="4076700"/>
            <a:ext cx="1428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7239000" y="3886200"/>
            <a:ext cx="4000500" cy="192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Per-Entry Analyzer</a:t>
            </a:r>
            <a:endParaRPr b="1" sz="12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7239000" y="4162425"/>
            <a:ext cx="39528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Generates a structured diagnostic report for any single DTC record. 3-tier retrieval fallback for maximum context coverage (root cause, fix steps, cited sources).</a:t>
            </a:r>
            <a:endParaRPr b="0"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11">
            <a:alphaModFix/>
          </a:blip>
          <a:srcRect b="475" l="0" r="0" t="475"/>
          <a:stretch/>
        </p:blipFill>
        <p:spPr>
          <a:xfrm>
            <a:off x="6700838" y="5486400"/>
            <a:ext cx="2382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/>
          <p:nvPr/>
        </p:nvSpPr>
        <p:spPr>
          <a:xfrm>
            <a:off x="7239000" y="5295900"/>
            <a:ext cx="4000500" cy="192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AI Assistant</a:t>
            </a:r>
            <a:endParaRPr b="1" sz="12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7239000" y="5572125"/>
            <a:ext cx="39528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Chat interface to ask "Which module has the most DTCs?" instead of building manual filters and pivot tables.</a:t>
            </a:r>
            <a:endParaRPr b="0"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"/>
          <p:cNvSpPr txBox="1"/>
          <p:nvPr/>
        </p:nvSpPr>
        <p:spPr>
          <a:xfrm>
            <a:off x="762000" y="476250"/>
            <a:ext cx="106680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Scope</a:t>
            </a:r>
            <a:endParaRPr b="0" sz="28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762000" y="1143000"/>
            <a:ext cx="10668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CURRENT SCOPE (WHAT DIAGTRACE DELIVERS TODAY)</a:t>
            </a:r>
            <a:endParaRPr b="1" sz="950">
              <a:solidFill>
                <a:srgbClr val="3B82F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762000" y="3952875"/>
            <a:ext cx="10668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FUTURE SCOPE (REALISTIC ROADMAP)</a:t>
            </a:r>
            <a:endParaRPr b="1" sz="950">
              <a:solidFill>
                <a:srgbClr val="10B98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10353675" y="6410325"/>
            <a:ext cx="1076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TCS Confidential</a:t>
            </a:r>
            <a:endParaRPr/>
          </a:p>
        </p:txBody>
      </p:sp>
      <p:grpSp>
        <p:nvGrpSpPr>
          <p:cNvPr id="130" name="Google Shape;130;p15"/>
          <p:cNvGrpSpPr/>
          <p:nvPr/>
        </p:nvGrpSpPr>
        <p:grpSpPr>
          <a:xfrm>
            <a:off x="762000" y="1476375"/>
            <a:ext cx="2524200" cy="2190900"/>
            <a:chOff x="0" y="0"/>
            <a:chExt cx="2524200" cy="2190900"/>
          </a:xfrm>
        </p:grpSpPr>
        <p:sp>
          <p:nvSpPr>
            <p:cNvPr id="131" name="Google Shape;131;p15"/>
            <p:cNvSpPr/>
            <p:nvPr/>
          </p:nvSpPr>
          <p:spPr>
            <a:xfrm>
              <a:off x="0" y="0"/>
              <a:ext cx="25242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0" y="0"/>
              <a:ext cx="2524200" cy="573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5"/>
            <p:cNvSpPr txBox="1"/>
            <p:nvPr/>
          </p:nvSpPr>
          <p:spPr>
            <a:xfrm>
              <a:off x="142875" y="142875"/>
              <a:ext cx="22383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cloud_upload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Diagnostic Log Ingestion</a:t>
              </a:r>
              <a:endParaRPr b="1" sz="11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Parse CSV, TXT, and LOG files from server or local upload, with automatic format detection and deduplication.</a:t>
              </a:r>
              <a:endParaRPr b="0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4" name="Google Shape;134;p15"/>
          <p:cNvGrpSpPr/>
          <p:nvPr/>
        </p:nvGrpSpPr>
        <p:grpSpPr>
          <a:xfrm>
            <a:off x="3476625" y="1476375"/>
            <a:ext cx="2524200" cy="2190900"/>
            <a:chOff x="0" y="0"/>
            <a:chExt cx="2524200" cy="2190900"/>
          </a:xfrm>
        </p:grpSpPr>
        <p:sp>
          <p:nvSpPr>
            <p:cNvPr id="135" name="Google Shape;135;p15"/>
            <p:cNvSpPr/>
            <p:nvPr/>
          </p:nvSpPr>
          <p:spPr>
            <a:xfrm>
              <a:off x="0" y="0"/>
              <a:ext cx="25242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0" y="0"/>
              <a:ext cx="2524200" cy="573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5"/>
            <p:cNvSpPr txBox="1"/>
            <p:nvPr/>
          </p:nvSpPr>
          <p:spPr>
            <a:xfrm>
              <a:off x="142875" y="142875"/>
              <a:ext cx="22383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AI Root Cause Analysis</a:t>
              </a:r>
              <a:endParaRPr b="1" sz="11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Agentic, multi-step fleet-wide analysis with co-occurring fault clustering and a full engineering action plan.</a:t>
              </a:r>
              <a:endParaRPr b="0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8" name="Google Shape;138;p15"/>
          <p:cNvGrpSpPr/>
          <p:nvPr/>
        </p:nvGrpSpPr>
        <p:grpSpPr>
          <a:xfrm>
            <a:off x="6191250" y="1476375"/>
            <a:ext cx="2524200" cy="2190900"/>
            <a:chOff x="0" y="0"/>
            <a:chExt cx="2524200" cy="2190900"/>
          </a:xfrm>
        </p:grpSpPr>
        <p:sp>
          <p:nvSpPr>
            <p:cNvPr id="139" name="Google Shape;139;p15"/>
            <p:cNvSpPr/>
            <p:nvPr/>
          </p:nvSpPr>
          <p:spPr>
            <a:xfrm>
              <a:off x="0" y="0"/>
              <a:ext cx="25242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5"/>
            <p:cNvSpPr/>
            <p:nvPr/>
          </p:nvSpPr>
          <p:spPr>
            <a:xfrm>
              <a:off x="0" y="0"/>
              <a:ext cx="2524200" cy="57300"/>
            </a:xfrm>
            <a:prstGeom prst="roundRect">
              <a:avLst>
                <a:gd fmla="val 50000" name="adj"/>
              </a:avLst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5"/>
            <p:cNvSpPr txBox="1"/>
            <p:nvPr/>
          </p:nvSpPr>
          <p:spPr>
            <a:xfrm>
              <a:off x="142875" y="142875"/>
              <a:ext cx="22383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Per-Entry AI Diagnosis</a:t>
              </a:r>
              <a:endParaRPr b="1" sz="11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Structured single-record reports — overview, root cause, fix steps, and cited sources — saved back to the record.</a:t>
              </a:r>
              <a:endParaRPr b="0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2" name="Google Shape;142;p15"/>
          <p:cNvGrpSpPr/>
          <p:nvPr/>
        </p:nvGrpSpPr>
        <p:grpSpPr>
          <a:xfrm>
            <a:off x="8905875" y="1476375"/>
            <a:ext cx="2524200" cy="2190900"/>
            <a:chOff x="0" y="0"/>
            <a:chExt cx="2524200" cy="2190900"/>
          </a:xfrm>
        </p:grpSpPr>
        <p:sp>
          <p:nvSpPr>
            <p:cNvPr id="143" name="Google Shape;143;p15"/>
            <p:cNvSpPr/>
            <p:nvPr/>
          </p:nvSpPr>
          <p:spPr>
            <a:xfrm>
              <a:off x="0" y="0"/>
              <a:ext cx="25242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0" y="0"/>
              <a:ext cx="2524200" cy="573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5"/>
            <p:cNvSpPr txBox="1"/>
            <p:nvPr/>
          </p:nvSpPr>
          <p:spPr>
            <a:xfrm>
              <a:off x="142875" y="142875"/>
              <a:ext cx="22383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menu_book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Configurable Knowledge Base</a:t>
              </a:r>
              <a:endParaRPr b="1" sz="11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RAG-grounded analysis using uploaded ECU specs, DTC guides, and test procedures, with pluggable LLM/embedding models.</a:t>
              </a:r>
              <a:endParaRPr b="0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6" name="Google Shape;146;p15"/>
          <p:cNvGrpSpPr/>
          <p:nvPr/>
        </p:nvGrpSpPr>
        <p:grpSpPr>
          <a:xfrm>
            <a:off x="762000" y="4286250"/>
            <a:ext cx="2524200" cy="2190900"/>
            <a:chOff x="0" y="0"/>
            <a:chExt cx="2524200" cy="2190900"/>
          </a:xfrm>
        </p:grpSpPr>
        <p:sp>
          <p:nvSpPr>
            <p:cNvPr id="147" name="Google Shape;147;p15"/>
            <p:cNvSpPr/>
            <p:nvPr/>
          </p:nvSpPr>
          <p:spPr>
            <a:xfrm>
              <a:off x="0" y="0"/>
              <a:ext cx="25242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0" y="0"/>
              <a:ext cx="2524200" cy="57300"/>
            </a:xfrm>
            <a:prstGeom prst="roundRect">
              <a:avLst>
                <a:gd fmla="val 50000" name="adj"/>
              </a:avLst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5"/>
            <p:cNvSpPr txBox="1"/>
            <p:nvPr/>
          </p:nvSpPr>
          <p:spPr>
            <a:xfrm>
              <a:off x="142875" y="142875"/>
              <a:ext cx="22383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notifications_active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Alerts &amp; Notifications</a:t>
              </a:r>
              <a:endParaRPr b="1" sz="11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Flag new high-severity DTCs or fault spikes automatically instead of waiting for manual review.</a:t>
              </a:r>
              <a:endParaRPr b="0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0" name="Google Shape;150;p15"/>
          <p:cNvGrpSpPr/>
          <p:nvPr/>
        </p:nvGrpSpPr>
        <p:grpSpPr>
          <a:xfrm>
            <a:off x="3476625" y="4286250"/>
            <a:ext cx="2524200" cy="2190900"/>
            <a:chOff x="0" y="0"/>
            <a:chExt cx="2524200" cy="2190900"/>
          </a:xfrm>
        </p:grpSpPr>
        <p:sp>
          <p:nvSpPr>
            <p:cNvPr id="151" name="Google Shape;151;p15"/>
            <p:cNvSpPr/>
            <p:nvPr/>
          </p:nvSpPr>
          <p:spPr>
            <a:xfrm>
              <a:off x="0" y="0"/>
              <a:ext cx="25242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0" y="0"/>
              <a:ext cx="2524200" cy="57300"/>
            </a:xfrm>
            <a:prstGeom prst="roundRect">
              <a:avLst>
                <a:gd fmla="val 50000" name="adj"/>
              </a:avLst>
            </a:prstGeom>
            <a:solidFill>
              <a:srgbClr val="EC48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5"/>
            <p:cNvSpPr txBox="1"/>
            <p:nvPr/>
          </p:nvSpPr>
          <p:spPr>
            <a:xfrm>
              <a:off x="142875" y="142875"/>
              <a:ext cx="22383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>
                  <a:solidFill>
                    <a:srgbClr val="EC489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confirmation_number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Ticketing Integration</a:t>
              </a:r>
              <a:endParaRPr b="1" sz="11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Auto-create or link Jira / Azure DevOps tickets directly from flagged DTCs or RCA findings.</a:t>
              </a:r>
              <a:endParaRPr b="0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4" name="Google Shape;154;p15"/>
          <p:cNvGrpSpPr/>
          <p:nvPr/>
        </p:nvGrpSpPr>
        <p:grpSpPr>
          <a:xfrm>
            <a:off x="6191250" y="4286250"/>
            <a:ext cx="2524200" cy="2190900"/>
            <a:chOff x="0" y="0"/>
            <a:chExt cx="2524200" cy="2190900"/>
          </a:xfrm>
        </p:grpSpPr>
        <p:sp>
          <p:nvSpPr>
            <p:cNvPr id="155" name="Google Shape;155;p15"/>
            <p:cNvSpPr/>
            <p:nvPr/>
          </p:nvSpPr>
          <p:spPr>
            <a:xfrm>
              <a:off x="0" y="0"/>
              <a:ext cx="25242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0" y="0"/>
              <a:ext cx="2524200" cy="573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5"/>
            <p:cNvSpPr txBox="1"/>
            <p:nvPr/>
          </p:nvSpPr>
          <p:spPr>
            <a:xfrm>
              <a:off x="142875" y="142875"/>
              <a:ext cx="22383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Predictive Failure Trends</a:t>
              </a:r>
              <a:endParaRPr b="1" sz="11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Statistical/ML forecasting on top of existing weekly trend data to anticipate recurring failures before they spike.</a:t>
              </a:r>
              <a:endParaRPr b="0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8" name="Google Shape;158;p15"/>
          <p:cNvGrpSpPr/>
          <p:nvPr/>
        </p:nvGrpSpPr>
        <p:grpSpPr>
          <a:xfrm>
            <a:off x="8905875" y="4286250"/>
            <a:ext cx="2524200" cy="2190900"/>
            <a:chOff x="0" y="0"/>
            <a:chExt cx="2524200" cy="2190900"/>
          </a:xfrm>
        </p:grpSpPr>
        <p:sp>
          <p:nvSpPr>
            <p:cNvPr id="159" name="Google Shape;159;p15"/>
            <p:cNvSpPr/>
            <p:nvPr/>
          </p:nvSpPr>
          <p:spPr>
            <a:xfrm>
              <a:off x="0" y="0"/>
              <a:ext cx="25242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5"/>
            <p:cNvSpPr/>
            <p:nvPr/>
          </p:nvSpPr>
          <p:spPr>
            <a:xfrm>
              <a:off x="0" y="0"/>
              <a:ext cx="2524200" cy="57300"/>
            </a:xfrm>
            <a:prstGeom prst="roundRect">
              <a:avLst>
                <a:gd fmla="val 50000" name="adj"/>
              </a:avLst>
            </a:prstGeom>
            <a:solidFill>
              <a:srgbClr val="6366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5"/>
            <p:cNvSpPr txBox="1"/>
            <p:nvPr/>
          </p:nvSpPr>
          <p:spPr>
            <a:xfrm>
              <a:off x="142875" y="142875"/>
              <a:ext cx="22383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security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Enterprise Governance</a:t>
              </a:r>
              <a:endParaRPr b="1" sz="11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Role-based access control, full audit trail, and on-premises LLM deployment options for regulated environments.</a:t>
              </a:r>
              <a:endParaRPr b="0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124991"/>
            <a:ext cx="2524125" cy="2223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6625" y="1124991"/>
            <a:ext cx="2524125" cy="2223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1124991"/>
            <a:ext cx="2524125" cy="2223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05875" y="1124991"/>
            <a:ext cx="2524125" cy="2223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214812"/>
            <a:ext cx="2524125" cy="2032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76625" y="4214812"/>
            <a:ext cx="2524125" cy="2032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91250" y="4214812"/>
            <a:ext cx="2524125" cy="2032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05875" y="4214812"/>
            <a:ext cx="2524125" cy="203254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6"/>
          <p:cNvSpPr txBox="1"/>
          <p:nvPr/>
        </p:nvSpPr>
        <p:spPr>
          <a:xfrm>
            <a:off x="495300" y="57150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Future Roadmap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10353675" y="6410325"/>
            <a:ext cx="10763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TCS Confidential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762000" y="3824287"/>
            <a:ext cx="10668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EXPANDING FLEET-WIDE AUTOMATION</a:t>
            </a:r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4330303" y="3976687"/>
            <a:ext cx="35313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4330303" y="3976687"/>
            <a:ext cx="35313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9" name="Google Shape;179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785937" y="1410741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6"/>
          <p:cNvSpPr txBox="1"/>
          <p:nvPr/>
        </p:nvSpPr>
        <p:spPr>
          <a:xfrm>
            <a:off x="1018936" y="2029866"/>
            <a:ext cx="201025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Predictive Trend Modeling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962025" y="2315616"/>
            <a:ext cx="2124075" cy="5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Forecast rising or recurring DTC patterns ahead of time using historical weekly trend buckets.</a:t>
            </a:r>
            <a:endParaRPr/>
          </a:p>
        </p:txBody>
      </p:sp>
      <p:pic>
        <p:nvPicPr>
          <p:cNvPr descr="image.png" id="182" name="Google Shape;182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00562" y="1410741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6"/>
          <p:cNvSpPr txBox="1"/>
          <p:nvPr/>
        </p:nvSpPr>
        <p:spPr>
          <a:xfrm>
            <a:off x="3938587" y="2029866"/>
            <a:ext cx="1600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Ticketing Integration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3676650" y="2315616"/>
            <a:ext cx="2124075" cy="5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Auto-create or link Jira / Azure DevOps tickets directly from flagged DTCs or RCA findings.</a:t>
            </a:r>
            <a:endParaRPr/>
          </a:p>
        </p:txBody>
      </p:sp>
      <p:pic>
        <p:nvPicPr>
          <p:cNvPr descr="image.png" id="185" name="Google Shape;185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215187" y="1410741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6"/>
          <p:cNvSpPr txBox="1"/>
          <p:nvPr/>
        </p:nvSpPr>
        <p:spPr>
          <a:xfrm>
            <a:off x="6718220" y="2029866"/>
            <a:ext cx="147018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Live Data Ingestion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6391275" y="2315616"/>
            <a:ext cx="2124075" cy="5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Accept near real-time telematics or CAN bus streams instead of batch log file uploads.</a:t>
            </a:r>
            <a:endParaRPr/>
          </a:p>
        </p:txBody>
      </p:sp>
      <p:pic>
        <p:nvPicPr>
          <p:cNvPr descr="image.png" id="188" name="Google Shape;188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929812" y="1410741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6"/>
          <p:cNvSpPr txBox="1"/>
          <p:nvPr/>
        </p:nvSpPr>
        <p:spPr>
          <a:xfrm>
            <a:off x="9052798" y="2029866"/>
            <a:ext cx="223027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Cross-Program Benchmarking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9105900" y="2506116"/>
            <a:ext cx="2124075" cy="5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Compare DTC rates and fault patterns across vehicle programs and builds over time.</a:t>
            </a:r>
            <a:endParaRPr/>
          </a:p>
        </p:txBody>
      </p:sp>
      <p:pic>
        <p:nvPicPr>
          <p:cNvPr descr="image.png" id="191" name="Google Shape;191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785937" y="450056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6"/>
          <p:cNvSpPr txBox="1"/>
          <p:nvPr/>
        </p:nvSpPr>
        <p:spPr>
          <a:xfrm>
            <a:off x="1093946" y="5119687"/>
            <a:ext cx="186023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Role-Based Dashboards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962025" y="5405437"/>
            <a:ext cx="2124075" cy="5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Separate, tailored views and permissions for Engineers, Architects, and Program Managers.</a:t>
            </a:r>
            <a:endParaRPr/>
          </a:p>
        </p:txBody>
      </p:sp>
      <p:pic>
        <p:nvPicPr>
          <p:cNvPr descr="image.png" id="194" name="Google Shape;194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500562" y="450056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6"/>
          <p:cNvSpPr txBox="1"/>
          <p:nvPr/>
        </p:nvSpPr>
        <p:spPr>
          <a:xfrm>
            <a:off x="4058602" y="5119687"/>
            <a:ext cx="136017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Automated Alerts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3676650" y="5405437"/>
            <a:ext cx="2124075" cy="5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Send instant Teams / Slack notifications or raise tickets when high-severity DTCs are detected.</a:t>
            </a:r>
            <a:endParaRPr/>
          </a:p>
        </p:txBody>
      </p:sp>
      <p:pic>
        <p:nvPicPr>
          <p:cNvPr descr="image.png" id="197" name="Google Shape;197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215187" y="450056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6"/>
          <p:cNvSpPr txBox="1"/>
          <p:nvPr/>
        </p:nvSpPr>
        <p:spPr>
          <a:xfrm>
            <a:off x="6343173" y="5119687"/>
            <a:ext cx="222027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Audit Trail &amp; Compliance Log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6391275" y="5405437"/>
            <a:ext cx="2124075" cy="5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Full history of who changed what, when — exportable for quality and compliance reviews.</a:t>
            </a:r>
            <a:endParaRPr/>
          </a:p>
        </p:txBody>
      </p:sp>
      <p:pic>
        <p:nvPicPr>
          <p:cNvPr descr="image.png" id="200" name="Google Shape;200;p1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9929812" y="450056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6"/>
          <p:cNvSpPr txBox="1"/>
          <p:nvPr/>
        </p:nvSpPr>
        <p:spPr>
          <a:xfrm>
            <a:off x="9307830" y="5119687"/>
            <a:ext cx="172021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On-Prem / Private LLM</a:t>
            </a:r>
            <a:endParaRPr/>
          </a:p>
        </p:txBody>
      </p:sp>
      <p:sp>
        <p:nvSpPr>
          <p:cNvPr id="202" name="Google Shape;202;p16"/>
          <p:cNvSpPr txBox="1"/>
          <p:nvPr/>
        </p:nvSpPr>
        <p:spPr>
          <a:xfrm>
            <a:off x="9105900" y="5405437"/>
            <a:ext cx="2124075" cy="5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Run the LLM and embedding models locally for OEMs with strict data residency requirements.</a:t>
            </a:r>
            <a:endParaRPr/>
          </a:p>
        </p:txBody>
      </p:sp>
      <p:pic>
        <p:nvPicPr>
          <p:cNvPr descr="image.png" id="203" name="Google Shape;203;p1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928812" y="1553616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629150" y="1553616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7358062" y="1553616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0072687" y="1553616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6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905000" y="4643437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6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4652962" y="464343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6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7358062" y="464343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6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10072687" y="4643437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"/>
          <p:cNvSpPr txBox="1"/>
          <p:nvPr/>
        </p:nvSpPr>
        <p:spPr>
          <a:xfrm>
            <a:off x="762000" y="571500"/>
            <a:ext cx="1120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Technology Stack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10353675" y="6410325"/>
            <a:ext cx="1076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TCS Confidential</a:t>
            </a:r>
            <a:endParaRPr/>
          </a:p>
        </p:txBody>
      </p:sp>
      <p:grpSp>
        <p:nvGrpSpPr>
          <p:cNvPr id="217" name="Google Shape;217;p17"/>
          <p:cNvGrpSpPr/>
          <p:nvPr/>
        </p:nvGrpSpPr>
        <p:grpSpPr>
          <a:xfrm>
            <a:off x="762000" y="1524000"/>
            <a:ext cx="10763250" cy="4381500"/>
            <a:chOff x="762000" y="1524000"/>
            <a:chExt cx="10763250" cy="4381500"/>
          </a:xfrm>
        </p:grpSpPr>
        <p:grpSp>
          <p:nvGrpSpPr>
            <p:cNvPr id="218" name="Google Shape;218;p17"/>
            <p:cNvGrpSpPr/>
            <p:nvPr/>
          </p:nvGrpSpPr>
          <p:grpSpPr>
            <a:xfrm>
              <a:off x="762000" y="1524000"/>
              <a:ext cx="2476500" cy="4381500"/>
              <a:chOff x="0" y="0"/>
              <a:chExt cx="2476500" cy="4381500"/>
            </a:xfrm>
          </p:grpSpPr>
          <p:sp>
            <p:nvSpPr>
              <p:cNvPr id="219" name="Google Shape;219;p17"/>
              <p:cNvSpPr/>
              <p:nvPr/>
            </p:nvSpPr>
            <p:spPr>
              <a:xfrm>
                <a:off x="0" y="0"/>
                <a:ext cx="2476500" cy="4381500"/>
              </a:xfrm>
              <a:prstGeom prst="roundRect">
                <a:avLst>
                  <a:gd fmla="val 4615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17"/>
              <p:cNvSpPr/>
              <p:nvPr/>
            </p:nvSpPr>
            <p:spPr>
              <a:xfrm>
                <a:off x="0" y="0"/>
                <a:ext cx="2476500" cy="171600"/>
              </a:xfrm>
              <a:custGeom>
                <a:rect b="b" l="l" r="r" t="t"/>
                <a:pathLst>
                  <a:path extrusionOk="0" h="120000" w="120000">
                    <a:moveTo>
                      <a:pt x="0" y="80000"/>
                    </a:moveTo>
                    <a:cubicBezTo>
                      <a:pt x="0" y="35817"/>
                      <a:pt x="2480" y="0"/>
                      <a:pt x="5538" y="0"/>
                    </a:cubicBezTo>
                    <a:lnTo>
                      <a:pt x="114462" y="0"/>
                    </a:lnTo>
                    <a:cubicBezTo>
                      <a:pt x="117521" y="4"/>
                      <a:pt x="120000" y="35820"/>
                      <a:pt x="120000" y="80000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7"/>
              <p:cNvSpPr/>
              <p:nvPr/>
            </p:nvSpPr>
            <p:spPr>
              <a:xfrm>
                <a:off x="933450" y="457200"/>
                <a:ext cx="609600" cy="6096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7"/>
              <p:cNvSpPr txBox="1"/>
              <p:nvPr/>
            </p:nvSpPr>
            <p:spPr>
              <a:xfrm>
                <a:off x="1047750" y="60655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3B82F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code</a:t>
                </a:r>
                <a:endParaRPr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23" name="Google Shape;223;p17"/>
              <p:cNvSpPr txBox="1"/>
              <p:nvPr/>
            </p:nvSpPr>
            <p:spPr>
              <a:xfrm>
                <a:off x="190500" y="1381125"/>
                <a:ext cx="2095500" cy="280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Frontend</a:t>
                </a:r>
                <a:endParaRPr b="1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Vanilla HTML5, CSS, and JavaScript single-page application, served directly by the backend with a fully offline-compatible, bundled charting library — no external CDN dependency.</a:t>
                </a:r>
                <a:endParaRPr b="0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24" name="Google Shape;224;p17"/>
            <p:cNvGrpSpPr/>
            <p:nvPr/>
          </p:nvGrpSpPr>
          <p:grpSpPr>
            <a:xfrm>
              <a:off x="3524250" y="1524000"/>
              <a:ext cx="2476500" cy="4381500"/>
              <a:chOff x="0" y="0"/>
              <a:chExt cx="2476500" cy="4381500"/>
            </a:xfrm>
          </p:grpSpPr>
          <p:sp>
            <p:nvSpPr>
              <p:cNvPr id="225" name="Google Shape;225;p17"/>
              <p:cNvSpPr/>
              <p:nvPr/>
            </p:nvSpPr>
            <p:spPr>
              <a:xfrm>
                <a:off x="0" y="0"/>
                <a:ext cx="2476500" cy="4381500"/>
              </a:xfrm>
              <a:prstGeom prst="roundRect">
                <a:avLst>
                  <a:gd fmla="val 4615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7"/>
              <p:cNvSpPr/>
              <p:nvPr/>
            </p:nvSpPr>
            <p:spPr>
              <a:xfrm>
                <a:off x="0" y="0"/>
                <a:ext cx="2476500" cy="171600"/>
              </a:xfrm>
              <a:custGeom>
                <a:rect b="b" l="l" r="r" t="t"/>
                <a:pathLst>
                  <a:path extrusionOk="0" h="120000" w="120000">
                    <a:moveTo>
                      <a:pt x="0" y="80000"/>
                    </a:moveTo>
                    <a:cubicBezTo>
                      <a:pt x="0" y="35817"/>
                      <a:pt x="2480" y="0"/>
                      <a:pt x="5538" y="0"/>
                    </a:cubicBezTo>
                    <a:lnTo>
                      <a:pt x="114462" y="0"/>
                    </a:lnTo>
                    <a:cubicBezTo>
                      <a:pt x="117521" y="4"/>
                      <a:pt x="120000" y="35820"/>
                      <a:pt x="120000" y="80000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7"/>
              <p:cNvSpPr/>
              <p:nvPr/>
            </p:nvSpPr>
            <p:spPr>
              <a:xfrm>
                <a:off x="933450" y="457200"/>
                <a:ext cx="609600" cy="609600"/>
              </a:xfrm>
              <a:prstGeom prst="ellipse">
                <a:avLst/>
              </a:prstGeom>
              <a:solidFill>
                <a:srgbClr val="ECFDF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17"/>
              <p:cNvSpPr txBox="1"/>
              <p:nvPr/>
            </p:nvSpPr>
            <p:spPr>
              <a:xfrm>
                <a:off x="1047750" y="60655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10B98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dns</a:t>
                </a:r>
                <a:endParaRPr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29" name="Google Shape;229;p17"/>
              <p:cNvSpPr txBox="1"/>
              <p:nvPr/>
            </p:nvSpPr>
            <p:spPr>
              <a:xfrm>
                <a:off x="190500" y="1381125"/>
                <a:ext cx="2095500" cy="280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Backend Architecture</a:t>
                </a:r>
                <a:endParaRPr b="1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High-performance FastAPI application in Python, backed by an embedded SQLite database running in WAL mode for reliable concurrent access.</a:t>
                </a:r>
                <a:endParaRPr b="0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30" name="Google Shape;230;p17"/>
            <p:cNvGrpSpPr/>
            <p:nvPr/>
          </p:nvGrpSpPr>
          <p:grpSpPr>
            <a:xfrm>
              <a:off x="6286500" y="1524000"/>
              <a:ext cx="2476500" cy="4381500"/>
              <a:chOff x="0" y="0"/>
              <a:chExt cx="2476500" cy="4381500"/>
            </a:xfrm>
          </p:grpSpPr>
          <p:sp>
            <p:nvSpPr>
              <p:cNvPr id="231" name="Google Shape;231;p17"/>
              <p:cNvSpPr/>
              <p:nvPr/>
            </p:nvSpPr>
            <p:spPr>
              <a:xfrm>
                <a:off x="0" y="0"/>
                <a:ext cx="2476500" cy="4381500"/>
              </a:xfrm>
              <a:prstGeom prst="roundRect">
                <a:avLst>
                  <a:gd fmla="val 4615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7"/>
              <p:cNvSpPr/>
              <p:nvPr/>
            </p:nvSpPr>
            <p:spPr>
              <a:xfrm>
                <a:off x="0" y="0"/>
                <a:ext cx="2476500" cy="171600"/>
              </a:xfrm>
              <a:custGeom>
                <a:rect b="b" l="l" r="r" t="t"/>
                <a:pathLst>
                  <a:path extrusionOk="0" h="120000" w="120000">
                    <a:moveTo>
                      <a:pt x="0" y="80000"/>
                    </a:moveTo>
                    <a:cubicBezTo>
                      <a:pt x="0" y="35817"/>
                      <a:pt x="2480" y="0"/>
                      <a:pt x="5538" y="0"/>
                    </a:cubicBezTo>
                    <a:lnTo>
                      <a:pt x="114462" y="0"/>
                    </a:lnTo>
                    <a:cubicBezTo>
                      <a:pt x="117521" y="4"/>
                      <a:pt x="120000" y="35820"/>
                      <a:pt x="120000" y="80000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7"/>
              <p:cNvSpPr/>
              <p:nvPr/>
            </p:nvSpPr>
            <p:spPr>
              <a:xfrm>
                <a:off x="933450" y="457200"/>
                <a:ext cx="609600" cy="609600"/>
              </a:xfrm>
              <a:prstGeom prst="ellipse">
                <a:avLst/>
              </a:prstGeom>
              <a:solidFill>
                <a:srgbClr val="F5F3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17"/>
              <p:cNvSpPr txBox="1"/>
              <p:nvPr/>
            </p:nvSpPr>
            <p:spPr>
              <a:xfrm>
                <a:off x="1047750" y="60655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8B5CF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psychology</a:t>
                </a:r>
                <a:endParaRPr sz="2400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35" name="Google Shape;235;p17"/>
              <p:cNvSpPr txBox="1"/>
              <p:nvPr/>
            </p:nvSpPr>
            <p:spPr>
              <a:xfrm>
                <a:off x="190500" y="1381125"/>
                <a:ext cx="2095500" cy="280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AI &amp; Foundation Models</a:t>
                </a:r>
                <a:endParaRPr b="1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Powered by the NVIDIA NIM API, using the </a:t>
                </a:r>
                <a:r>
                  <a:rPr b="1" lang="en-US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openai/gpt-oss-20b</a:t>
                </a:r>
                <a:r>
                  <a:rPr b="0" lang="en-US" sz="10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 LLM and </a:t>
                </a:r>
                <a:r>
                  <a:rPr b="1" lang="en-US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nvidia/nv-embedqa-e5-v5</a:t>
                </a:r>
                <a:r>
                  <a:rPr b="0" lang="en-US" sz="10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 embedding model for diagnostic analysis and semantic search.</a:t>
                </a:r>
                <a:endParaRPr b="0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36" name="Google Shape;236;p17"/>
            <p:cNvGrpSpPr/>
            <p:nvPr/>
          </p:nvGrpSpPr>
          <p:grpSpPr>
            <a:xfrm>
              <a:off x="9048750" y="1524000"/>
              <a:ext cx="2476500" cy="4381500"/>
              <a:chOff x="0" y="0"/>
              <a:chExt cx="2476500" cy="4381500"/>
            </a:xfrm>
          </p:grpSpPr>
          <p:sp>
            <p:nvSpPr>
              <p:cNvPr id="237" name="Google Shape;237;p17"/>
              <p:cNvSpPr/>
              <p:nvPr/>
            </p:nvSpPr>
            <p:spPr>
              <a:xfrm>
                <a:off x="0" y="0"/>
                <a:ext cx="2476500" cy="4381500"/>
              </a:xfrm>
              <a:prstGeom prst="roundRect">
                <a:avLst>
                  <a:gd fmla="val 4615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7"/>
              <p:cNvSpPr/>
              <p:nvPr/>
            </p:nvSpPr>
            <p:spPr>
              <a:xfrm>
                <a:off x="0" y="0"/>
                <a:ext cx="2476500" cy="171600"/>
              </a:xfrm>
              <a:custGeom>
                <a:rect b="b" l="l" r="r" t="t"/>
                <a:pathLst>
                  <a:path extrusionOk="0" h="120000" w="120000">
                    <a:moveTo>
                      <a:pt x="0" y="80000"/>
                    </a:moveTo>
                    <a:cubicBezTo>
                      <a:pt x="0" y="35817"/>
                      <a:pt x="2480" y="0"/>
                      <a:pt x="5538" y="0"/>
                    </a:cubicBezTo>
                    <a:lnTo>
                      <a:pt x="114462" y="0"/>
                    </a:lnTo>
                    <a:cubicBezTo>
                      <a:pt x="117521" y="4"/>
                      <a:pt x="120000" y="35820"/>
                      <a:pt x="120000" y="80000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17"/>
              <p:cNvSpPr/>
              <p:nvPr/>
            </p:nvSpPr>
            <p:spPr>
              <a:xfrm>
                <a:off x="933450" y="457200"/>
                <a:ext cx="609600" cy="609600"/>
              </a:xfrm>
              <a:prstGeom prst="ellipse">
                <a:avLst/>
              </a:prstGeom>
              <a:solidFill>
                <a:srgbClr val="FEF3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17"/>
              <p:cNvSpPr txBox="1"/>
              <p:nvPr/>
            </p:nvSpPr>
            <p:spPr>
              <a:xfrm>
                <a:off x="1047750" y="60655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F59E0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storage</a:t>
                </a:r>
                <a:endParaRPr sz="24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41" name="Google Shape;241;p17"/>
              <p:cNvSpPr txBox="1"/>
              <p:nvPr/>
            </p:nvSpPr>
            <p:spPr>
              <a:xfrm>
                <a:off x="190500" y="1381125"/>
                <a:ext cx="2095500" cy="280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Vector Storage</a:t>
                </a:r>
                <a:endParaRPr b="1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Integrates with Qdrant Cloud for scalable semantic search and retrieval, with a built-in SQLite-based fallback for environments without cloud vector database access.</a:t>
                </a:r>
                <a:endParaRPr b="0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276350"/>
            <a:ext cx="3365450" cy="501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3200" y="1276350"/>
            <a:ext cx="3365450" cy="501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4400" y="1276350"/>
            <a:ext cx="3365599" cy="5010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8"/>
          <p:cNvSpPr txBox="1"/>
          <p:nvPr/>
        </p:nvSpPr>
        <p:spPr>
          <a:xfrm>
            <a:off x="762000" y="57150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Platform Interface Overview</a:t>
            </a:r>
            <a:endParaRPr/>
          </a:p>
        </p:txBody>
      </p:sp>
      <p:sp>
        <p:nvSpPr>
          <p:cNvPr id="250" name="Google Shape;250;p18"/>
          <p:cNvSpPr txBox="1"/>
          <p:nvPr/>
        </p:nvSpPr>
        <p:spPr>
          <a:xfrm>
            <a:off x="10353675" y="6410325"/>
            <a:ext cx="10763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TCS Confidential</a:t>
            </a:r>
            <a:endParaRPr/>
          </a:p>
        </p:txBody>
      </p:sp>
      <p:pic>
        <p:nvPicPr>
          <p:cNvPr descr="image.png" id="251" name="Google Shape;25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63650" y="180022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8"/>
          <p:cNvSpPr txBox="1"/>
          <p:nvPr/>
        </p:nvSpPr>
        <p:spPr>
          <a:xfrm>
            <a:off x="1504533" y="2895600"/>
            <a:ext cx="18802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Diagnostic Registry</a:t>
            </a:r>
            <a:endParaRPr/>
          </a:p>
        </p:txBody>
      </p:sp>
      <p:sp>
        <p:nvSpPr>
          <p:cNvPr id="253" name="Google Shape;253;p18"/>
          <p:cNvSpPr txBox="1"/>
          <p:nvPr/>
        </p:nvSpPr>
        <p:spPr>
          <a:xfrm>
            <a:off x="962025" y="3314700"/>
            <a:ext cx="29654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Browse, filter, and edit every parsed DTC record with live KPI cards and per-row AI analysis.</a:t>
            </a:r>
            <a:endParaRPr/>
          </a:p>
        </p:txBody>
      </p:sp>
      <p:pic>
        <p:nvPicPr>
          <p:cNvPr descr="image.png" id="254" name="Google Shape;25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4851" y="180022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8"/>
          <p:cNvSpPr txBox="1"/>
          <p:nvPr/>
        </p:nvSpPr>
        <p:spPr>
          <a:xfrm>
            <a:off x="5095726" y="2895600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Summary Dashboard</a:t>
            </a:r>
            <a:endParaRPr/>
          </a:p>
        </p:txBody>
      </p:sp>
      <p:sp>
        <p:nvSpPr>
          <p:cNvPr id="256" name="Google Shape;256;p18"/>
          <p:cNvSpPr txBox="1"/>
          <p:nvPr/>
        </p:nvSpPr>
        <p:spPr>
          <a:xfrm>
            <a:off x="4613225" y="3314700"/>
            <a:ext cx="29654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Visualize top DTCs, top modules, issue status breakdowns, and program distribution at a glance.</a:t>
            </a:r>
            <a:endParaRPr/>
          </a:p>
        </p:txBody>
      </p:sp>
      <p:pic>
        <p:nvPicPr>
          <p:cNvPr descr="image.png" id="257" name="Google Shape;25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66200" y="180022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8"/>
          <p:cNvSpPr txBox="1"/>
          <p:nvPr/>
        </p:nvSpPr>
        <p:spPr>
          <a:xfrm>
            <a:off x="8492043" y="2895600"/>
            <a:ext cx="251031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Knowledge Base Manager</a:t>
            </a:r>
            <a:endParaRPr/>
          </a:p>
        </p:txBody>
      </p:sp>
      <p:sp>
        <p:nvSpPr>
          <p:cNvPr id="259" name="Google Shape;259;p18"/>
          <p:cNvSpPr txBox="1"/>
          <p:nvPr/>
        </p:nvSpPr>
        <p:spPr>
          <a:xfrm>
            <a:off x="8264425" y="3314700"/>
            <a:ext cx="296554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Upload technical manuals and standards, then test semantic retrieval accuracy before running AI analysis.</a:t>
            </a:r>
            <a:endParaRPr/>
          </a:p>
        </p:txBody>
      </p:sp>
      <p:pic>
        <p:nvPicPr>
          <p:cNvPr descr="image.png" id="260" name="Google Shape;26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292250" y="20288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24401" y="202882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575750" y="2028825"/>
            <a:ext cx="3429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9"/>
          <p:cNvSpPr txBox="1"/>
          <p:nvPr/>
        </p:nvSpPr>
        <p:spPr>
          <a:xfrm>
            <a:off x="762000" y="57150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AI Root Cause Analysis</a:t>
            </a:r>
            <a:endParaRPr/>
          </a:p>
        </p:txBody>
      </p:sp>
      <p:sp>
        <p:nvSpPr>
          <p:cNvPr id="268" name="Google Shape;268;p19"/>
          <p:cNvSpPr txBox="1"/>
          <p:nvPr/>
        </p:nvSpPr>
        <p:spPr>
          <a:xfrm>
            <a:off x="762000" y="108585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FLEET-WIDE AGENTIC TRIAGE</a:t>
            </a:r>
            <a:endParaRPr/>
          </a:p>
        </p:txBody>
      </p:sp>
      <p:sp>
        <p:nvSpPr>
          <p:cNvPr id="269" name="Google Shape;269;p19"/>
          <p:cNvSpPr txBox="1"/>
          <p:nvPr/>
        </p:nvSpPr>
        <p:spPr>
          <a:xfrm>
            <a:off x="10353675" y="6410325"/>
            <a:ext cx="10763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TCS Confidential</a:t>
            </a:r>
            <a:endParaRPr/>
          </a:p>
        </p:txBody>
      </p:sp>
      <p:sp>
        <p:nvSpPr>
          <p:cNvPr id="270" name="Google Shape;270;p19"/>
          <p:cNvSpPr txBox="1"/>
          <p:nvPr/>
        </p:nvSpPr>
        <p:spPr>
          <a:xfrm>
            <a:off x="1809750" y="2862262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The core evaluation engine runs a </a:t>
            </a:r>
            <a:r>
              <a:rPr b="1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full fleet-wide root cause analysis</a:t>
            </a: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across every diagnostic record in the database.</a:t>
            </a:r>
            <a:endParaRPr/>
          </a:p>
        </p:txBody>
      </p:sp>
      <p:sp>
        <p:nvSpPr>
          <p:cNvPr id="271" name="Google Shape;271;p19"/>
          <p:cNvSpPr txBox="1"/>
          <p:nvPr/>
        </p:nvSpPr>
        <p:spPr>
          <a:xfrm>
            <a:off x="1809750" y="3281362"/>
            <a:ext cx="857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It extracts module and DTC frequency patterns, detects </a:t>
            </a:r>
            <a:r>
              <a:rPr b="1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co-occurring fault clusters</a:t>
            </a: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within a 5-second window, and performs targeted multi-query RAG retrieval before generating its report.</a:t>
            </a:r>
            <a:endParaRPr/>
          </a:p>
        </p:txBody>
      </p:sp>
      <p:sp>
        <p:nvSpPr>
          <p:cNvPr id="272" name="Google Shape;272;p19"/>
          <p:cNvSpPr txBox="1"/>
          <p:nvPr/>
        </p:nvSpPr>
        <p:spPr>
          <a:xfrm>
            <a:off x="1809750" y="3929062"/>
            <a:ext cx="857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An </a:t>
            </a:r>
            <a:r>
              <a:rPr b="1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agentic loop</a:t>
            </a: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lets the LLM request additional knowledge base searches — up to 4 iterations — before committing to a final report, ensuring conclusions are grounded in retrieved evidence rather than assumption.</a:t>
            </a:r>
            <a:endParaRPr/>
          </a:p>
        </p:txBody>
      </p:sp>
      <p:sp>
        <p:nvSpPr>
          <p:cNvPr id="273" name="Google Shape;273;p19"/>
          <p:cNvSpPr txBox="1"/>
          <p:nvPr/>
        </p:nvSpPr>
        <p:spPr>
          <a:xfrm>
            <a:off x="1809750" y="4576762"/>
            <a:ext cx="857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The output includes an executive summary, per-module and per-DTC root cause hypotheses, weekly trend analysis, and a concrete engineering action plan.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0"/>
          <p:cNvSpPr txBox="1"/>
          <p:nvPr/>
        </p:nvSpPr>
        <p:spPr>
          <a:xfrm>
            <a:off x="762000" y="57150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Per-Entry Diagnostic Analysis</a:t>
            </a:r>
            <a:endParaRPr/>
          </a:p>
        </p:txBody>
      </p:sp>
      <p:sp>
        <p:nvSpPr>
          <p:cNvPr id="279" name="Google Shape;279;p20"/>
          <p:cNvSpPr txBox="1"/>
          <p:nvPr/>
        </p:nvSpPr>
        <p:spPr>
          <a:xfrm>
            <a:off x="762000" y="108585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TRACEABILITY OF DIAGNOSIS TO EVIDENCE</a:t>
            </a: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10353675" y="6410325"/>
            <a:ext cx="10763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TCS Confidential</a:t>
            </a:r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1476375" y="3052911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Generates a focused, structured report for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any single DTC record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on demand.</a:t>
            </a:r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1476375" y="3487191"/>
            <a:ext cx="95726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Uses a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3-tier retrieval fallback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— primary vector search, lower-threshold vector search, then keyword search — so the AI always has usable context, even for sparse knowledge bases.</a:t>
            </a:r>
            <a:endParaRPr/>
          </a:p>
        </p:txBody>
      </p:sp>
      <p:sp>
        <p:nvSpPr>
          <p:cNvPr id="283" name="Google Shape;283;p20"/>
          <p:cNvSpPr txBox="1"/>
          <p:nvPr/>
        </p:nvSpPr>
        <p:spPr>
          <a:xfrm>
            <a:off x="1476375" y="4165252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Produces a consistent 4-section report: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Diagnostic Overview, Root Cause, How to Fix, and Related Context &amp; Sources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84" name="Google Shape;284;p20"/>
          <p:cNvSpPr txBox="1"/>
          <p:nvPr/>
        </p:nvSpPr>
        <p:spPr>
          <a:xfrm>
            <a:off x="1476375" y="4599533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Automatically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saves each report back to the record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, building a growing library of AI-reviewed diagnoses across the fleet.</a:t>
            </a:r>
            <a:endParaRPr/>
          </a:p>
        </p:txBody>
      </p:sp>
      <p:pic>
        <p:nvPicPr>
          <p:cNvPr descr="image.png" id="285" name="Google Shape;2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308624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352052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419859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4632870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3" name="Google Shape;29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276350"/>
            <a:ext cx="5048250" cy="501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276350"/>
            <a:ext cx="5048250" cy="5010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1"/>
          <p:cNvSpPr txBox="1"/>
          <p:nvPr/>
        </p:nvSpPr>
        <p:spPr>
          <a:xfrm>
            <a:off x="762000" y="571500"/>
            <a:ext cx="11201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Advanced Knowledge (RAG) Engine</a:t>
            </a:r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10353675" y="6410325"/>
            <a:ext cx="10763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TCS Confidential</a:t>
            </a:r>
            <a:endParaRPr/>
          </a:p>
        </p:txBody>
      </p:sp>
      <p:pic>
        <p:nvPicPr>
          <p:cNvPr descr="image.png" id="297" name="Google Shape;29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05125" y="254615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1"/>
          <p:cNvSpPr txBox="1"/>
          <p:nvPr/>
        </p:nvSpPr>
        <p:spPr>
          <a:xfrm>
            <a:off x="2280999" y="3641526"/>
            <a:ext cx="201025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Semantic Retrieval</a:t>
            </a: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1152525" y="4079676"/>
            <a:ext cx="426720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Provides highly relevant ECU architecture, DTC reference guides, and test procedures as direct context for every AI analysis — grounding diagnoses in your organization's own documentation rather than generic AI knowledge.</a:t>
            </a:r>
            <a:endParaRPr/>
          </a:p>
        </p:txBody>
      </p:sp>
      <p:pic>
        <p:nvPicPr>
          <p:cNvPr descr="image.png" id="300" name="Google Shape;30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24875" y="254615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1"/>
          <p:cNvSpPr txBox="1"/>
          <p:nvPr/>
        </p:nvSpPr>
        <p:spPr>
          <a:xfrm>
            <a:off x="7855743" y="3641526"/>
            <a:ext cx="21002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Intelligent Ingestion</a:t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6772275" y="4079676"/>
            <a:ext cx="426720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Parses and semantically chunks PDF, DOCX, TXT, CSV, and JSON documentation using the LLM itself, with automatic fallback to heuristic chunking, then embeds each chunk into a scalable Qdrant vector database.</a:t>
            </a:r>
            <a:endParaRPr/>
          </a:p>
        </p:txBody>
      </p:sp>
      <p:pic>
        <p:nvPicPr>
          <p:cNvPr descr="image.png" id="303" name="Google Shape;30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95625" y="2774751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53475" y="2774751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"/>
          <p:cNvSpPr txBox="1"/>
          <p:nvPr/>
        </p:nvSpPr>
        <p:spPr>
          <a:xfrm>
            <a:off x="10353675" y="6410325"/>
            <a:ext cx="10763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TCS Confidential</a:t>
            </a:r>
            <a:endParaRPr/>
          </a:p>
        </p:txBody>
      </p:sp>
      <p:pic>
        <p:nvPicPr>
          <p:cNvPr descr="image.png" id="310" name="Google Shape;31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9750" y="2347912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2"/>
          <p:cNvSpPr txBox="1"/>
          <p:nvPr/>
        </p:nvSpPr>
        <p:spPr>
          <a:xfrm>
            <a:off x="4055744" y="3395662"/>
            <a:ext cx="408051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