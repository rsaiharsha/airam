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Relationship Id="rId22" Type="http://schemas.openxmlformats.org/officeDocument/2006/relationships/image" Target="../media/image31.png"/><Relationship Id="rId23" Type="http://schemas.openxmlformats.org/officeDocument/2006/relationships/image" Target="../media/image32.png"/><Relationship Id="rId24" Type="http://schemas.openxmlformats.org/officeDocument/2006/relationships/image" Target="../media/image33.png"/><Relationship Id="rId25" Type="http://schemas.openxmlformats.org/officeDocument/2006/relationships/image" Target="../media/image3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24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Relationship Id="rId17" Type="http://schemas.openxmlformats.org/officeDocument/2006/relationships/image" Target="../media/image49.png"/><Relationship Id="rId18" Type="http://schemas.openxmlformats.org/officeDocument/2006/relationships/image" Target="../media/image50.png"/><Relationship Id="rId19" Type="http://schemas.openxmlformats.org/officeDocument/2006/relationships/image" Target="../media/image32.png"/><Relationship Id="rId20" Type="http://schemas.openxmlformats.org/officeDocument/2006/relationships/image" Target="../media/image51.png"/><Relationship Id="rId21" Type="http://schemas.openxmlformats.org/officeDocument/2006/relationships/image" Target="../media/image52.png"/><Relationship Id="rId22" Type="http://schemas.openxmlformats.org/officeDocument/2006/relationships/image" Target="../media/image53.png"/><Relationship Id="rId23" Type="http://schemas.openxmlformats.org/officeDocument/2006/relationships/image" Target="../media/image54.png"/><Relationship Id="rId24" Type="http://schemas.openxmlformats.org/officeDocument/2006/relationships/image" Target="../media/image55.png"/><Relationship Id="rId25" Type="http://schemas.openxmlformats.org/officeDocument/2006/relationships/image" Target="../media/image5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72.png"/><Relationship Id="rId12" Type="http://schemas.openxmlformats.org/officeDocument/2006/relationships/image" Target="../media/image73.png"/><Relationship Id="rId13" Type="http://schemas.openxmlformats.org/officeDocument/2006/relationships/image" Target="../media/image7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 Medium"/>
              </a:rPr>
              <a:t>TCS Confidential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0" y="2071687"/>
            <a:ext cx="9525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50781" y="3119437"/>
            <a:ext cx="3490436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5400" i="0" u="none">
                <a:solidFill>
                  <a:srgbClr val="1E293B"/>
                </a:solidFill>
                <a:latin typeface="Inter ExtraBold"/>
              </a:rPr>
              <a:t>DiagTrace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0556" y="4138612"/>
            <a:ext cx="7090886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64748B"/>
                </a:solidFill>
                <a:latin typeface="Inter"/>
              </a:rPr>
              <a:t>Enterprise Vehicle Diagnostics Portal</a:t>
            </a:r>
            <a:r>
              <a:t>
</a:t>
            </a:r>
            <a:r>
              <a:rPr b="0" sz="2100" i="0" u="none">
                <a:solidFill>
                  <a:srgbClr val="64748B"/>
                </a:solidFill>
                <a:latin typeface="Inter"/>
              </a:rPr>
              <a:t> AI-Powered DTC Management &amp; Root Cause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2495550"/>
            <a:ext cx="5048250" cy="131817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3956595"/>
            <a:ext cx="5048250" cy="13181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5417641"/>
            <a:ext cx="5048250" cy="112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Core DiagTrace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 Medium"/>
              </a:rPr>
              <a:t>TCS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276350"/>
            <a:ext cx="5048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800225"/>
            <a:ext cx="50482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Manual diagnostic log review across large vehicle fleets introduces severe bottlenecks: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1276350"/>
            <a:ext cx="5048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CURRENT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0" y="1800225"/>
            <a:ext cx="5048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A unified suite for automated DTC ingestion, agentic root cause analysis, and standards-grounded diagnostic knowledge retrieval.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525910"/>
            <a:ext cx="514350" cy="702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2700" i="0" u="none">
                <a:solidFill>
                  <a:srgbClr val="CBD5E1"/>
                </a:solidFill>
                <a:latin typeface="Inter ExtraBold"/>
              </a:rPr>
              <a:t>01.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466802"/>
            <a:ext cx="581025" cy="9160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2700" i="0" u="none">
                <a:solidFill>
                  <a:srgbClr val="CBD5E1"/>
                </a:solidFill>
                <a:latin typeface="Inter ExtraBold"/>
              </a:rPr>
              <a:t>02.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620964"/>
            <a:ext cx="581025" cy="702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2700" i="0" u="none">
                <a:solidFill>
                  <a:srgbClr val="CBD5E1"/>
                </a:solidFill>
                <a:latin typeface="Inter ExtraBold"/>
              </a:rPr>
              <a:t>03.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733675"/>
            <a:ext cx="476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4194720"/>
            <a:ext cx="476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5655766"/>
            <a:ext cx="476250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6850" y="2525910"/>
            <a:ext cx="456057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Inter SemiBold"/>
              </a:rPr>
              <a:t>Time-Consuming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6850" y="2802135"/>
            <a:ext cx="43434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Engineers manually sift through hundreds of DTCs across CSV, TXT, and LOG files per program, delaying root cause identification.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3525" y="3466802"/>
            <a:ext cx="4490561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Inter SemiBold"/>
              </a:rPr>
              <a:t>Hard to Correlate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3525" y="3743027"/>
            <a:ext cx="427672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Faults from different ECU modules that occur together (bus/harness/gateway issues) are nearly impossible to spot manually across large log volumes.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3525" y="4620964"/>
            <a:ext cx="4490561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Inter SemiBold"/>
              </a:rPr>
              <a:t>Inconsistent Diagnosis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3525" y="4897189"/>
            <a:ext cx="427672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Root cause conclusions vary by engineer experience and available reference material, with no shared, auditable knowledge base.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650" y="2876550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48525" y="2733675"/>
            <a:ext cx="418052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 SemiBold"/>
              </a:rPr>
              <a:t>Root Cause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8525" y="3019425"/>
            <a:ext cx="3981450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Runs a fleet-wide, agentic AI analysis across all diagnostic records. Multi-step ReAct loop with targeted RAG retrieval and co-occurrence fault clustering across modules.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8462" y="4337595"/>
            <a:ext cx="142875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48525" y="4194720"/>
            <a:ext cx="418052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 SemiBold"/>
              </a:rPr>
              <a:t>Per-Entry Analyzer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8525" y="4480470"/>
            <a:ext cx="3981450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Generates a structured diagnostic report for any single DTC record. 3-tier retrieval fallback for maximum context coverage (root cause, fix steps, cited sources).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0837" y="5798641"/>
            <a:ext cx="238125" cy="1905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248525" y="5655766"/>
            <a:ext cx="418052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 SemiBold"/>
              </a:rPr>
              <a:t>AI Assistant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8525" y="5941516"/>
            <a:ext cx="398145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Chat interface to ask "Which module has the most DTCs?" instead of building manual filters and pivot tables.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14500"/>
            <a:ext cx="2524125" cy="242113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25" y="1714500"/>
            <a:ext cx="2524125" cy="24211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714500"/>
            <a:ext cx="2524125" cy="24211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5875" y="1714500"/>
            <a:ext cx="2524125" cy="24211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764285"/>
            <a:ext cx="2524125" cy="223063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6625" y="4764285"/>
            <a:ext cx="2524125" cy="223063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764285"/>
            <a:ext cx="2524125" cy="223063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5875" y="4764285"/>
            <a:ext cx="2524125" cy="22306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 Medium"/>
              </a:rPr>
              <a:t>TCS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323975"/>
            <a:ext cx="10668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Inter SemiBold"/>
              </a:rPr>
              <a:t>CURRENT SCOPE (WHAT DIAGTRACE DELIVERS TODAY)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373760"/>
            <a:ext cx="10668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Inter SemiBold"/>
              </a:rPr>
              <a:t>FUTURE SCOPE (REALISTIC ROADMAP)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6053" y="1476375"/>
            <a:ext cx="29598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6053" y="1476375"/>
            <a:ext cx="29598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1968" y="4526160"/>
            <a:ext cx="35480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1968" y="4526160"/>
            <a:ext cx="35480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5937" y="2000250"/>
            <a:ext cx="476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63942" y="2619375"/>
            <a:ext cx="192024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293B"/>
                </a:solidFill>
                <a:latin typeface="Inter SemiBold"/>
              </a:rPr>
              <a:t>Diagnostic Log 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2905125"/>
            <a:ext cx="2124075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Parse CSV, TXT, and LOG files from server or local upload, with automatic format detection and deduplication.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0562" y="2000250"/>
            <a:ext cx="476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43575" y="2619375"/>
            <a:ext cx="1790223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293B"/>
                </a:solidFill>
                <a:latin typeface="Inter SemiBold"/>
              </a:rPr>
              <a:t>AI Root Cause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6650" y="2905125"/>
            <a:ext cx="2124075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Agentic, multi-step fleet-wide analysis with co-occurring fault clustering and a full engineering action plan.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5187" y="2000250"/>
            <a:ext cx="476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88204" y="2619375"/>
            <a:ext cx="173021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293B"/>
                </a:solidFill>
                <a:latin typeface="Inter SemiBold"/>
              </a:rPr>
              <a:t>Per-Entry AI Diagnosis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275" y="2905125"/>
            <a:ext cx="2124075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Structured single-record reports — overview, root cause, fix steps, and cited sources — saved back to the record.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29812" y="2000250"/>
            <a:ext cx="476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52798" y="2619375"/>
            <a:ext cx="2230278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293B"/>
                </a:solidFill>
                <a:latin typeface="Inter SemiBold"/>
              </a:rPr>
              <a:t>Configurable Knowledge 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5900" y="3095625"/>
            <a:ext cx="2124075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RAG-grounded analysis using uploaded ECU specs, DTC guides, and test procedures, with pluggable LLM/embedding models.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85937" y="5050035"/>
            <a:ext cx="476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08923" y="5669160"/>
            <a:ext cx="2230278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293B"/>
                </a:solidFill>
                <a:latin typeface="Inter SemiBold"/>
              </a:rPr>
              <a:t>Automated Alerts &amp; Notifications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025" y="6145410"/>
            <a:ext cx="2124075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Flag new high-severity DTCs or fault spikes automatically instead of waiting for manual review.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00562" y="5050035"/>
            <a:ext cx="476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938587" y="5669160"/>
            <a:ext cx="1600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293B"/>
                </a:solidFill>
                <a:latin typeface="Inter SemiBold"/>
              </a:rPr>
              <a:t>Ticketing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76650" y="5954910"/>
            <a:ext cx="2124075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Auto-create or link Jira / Azure DevOps tickets directly from flagged DTCs or RCA findings.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15187" y="5050035"/>
            <a:ext cx="476250" cy="4762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508194" y="5669160"/>
            <a:ext cx="189023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293B"/>
                </a:solidFill>
                <a:latin typeface="Inter SemiBold"/>
              </a:rPr>
              <a:t>Predictive Failure Trends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275" y="5954910"/>
            <a:ext cx="2124075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Statistical/ML forecasting on top of existing weekly trend data to anticipate recurring failures before they spike.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29812" y="5050035"/>
            <a:ext cx="476250" cy="4762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287827" y="5669160"/>
            <a:ext cx="176022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293B"/>
                </a:solidFill>
                <a:latin typeface="Inter SemiBold"/>
              </a:rPr>
              <a:t>Enterprise Governance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05900" y="5954910"/>
            <a:ext cx="2124075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Role-based access control, full audit trail, and on-premises LLM deployment options for regulated environments.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28812" y="2143125"/>
            <a:ext cx="190500" cy="1905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43437" y="2143125"/>
            <a:ext cx="190500" cy="1905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58062" y="2143125"/>
            <a:ext cx="190500" cy="1905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82212" y="2143125"/>
            <a:ext cx="171450" cy="1905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38337" y="5192910"/>
            <a:ext cx="171450" cy="1905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29150" y="5192910"/>
            <a:ext cx="219075" cy="1905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58062" y="5192910"/>
            <a:ext cx="190500" cy="1905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72687" y="519291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24991"/>
            <a:ext cx="2524125" cy="222304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625" y="1124991"/>
            <a:ext cx="2524125" cy="22230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124991"/>
            <a:ext cx="2524125" cy="22230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5875" y="1124991"/>
            <a:ext cx="2524125" cy="22230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214812"/>
            <a:ext cx="2524125" cy="20325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6625" y="4214812"/>
            <a:ext cx="2524125" cy="203254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214812"/>
            <a:ext cx="2524125" cy="203254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5875" y="4214812"/>
            <a:ext cx="2524125" cy="20325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5300" y="571500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1E293B"/>
                </a:solidFill>
                <a:latin typeface="Inter"/>
              </a:rPr>
              <a:t>Future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 Medium"/>
              </a:rPr>
              <a:t>TCS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824287"/>
            <a:ext cx="106680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975" i="0" u="none">
                <a:solidFill>
                  <a:srgbClr val="94A3B8"/>
                </a:solidFill>
                <a:latin typeface="Inter SemiBold"/>
              </a:rPr>
              <a:t>EXPANDING FLEET-WIDE AUTOMATION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0303" y="3976687"/>
            <a:ext cx="35313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0303" y="3976687"/>
            <a:ext cx="35313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5937" y="1410741"/>
            <a:ext cx="476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8936" y="2029866"/>
            <a:ext cx="2010251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293B"/>
                </a:solidFill>
                <a:latin typeface="Inter SemiBold"/>
              </a:rPr>
              <a:t>Predictive Trend Modeling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2315616"/>
            <a:ext cx="2124075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Forecast rising or recurring DTC patterns ahead of time using historical weekly trend buckets.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0562" y="1410741"/>
            <a:ext cx="476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938587" y="2029866"/>
            <a:ext cx="1600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293B"/>
                </a:solidFill>
                <a:latin typeface="Inter SemiBold"/>
              </a:rPr>
              <a:t>Ticketing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6650" y="2315616"/>
            <a:ext cx="2124075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Auto-create or link Jira / Azure DevOps tickets directly from flagged DTCs or RCA findings.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5187" y="1410741"/>
            <a:ext cx="476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18220" y="2029866"/>
            <a:ext cx="1470183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293B"/>
                </a:solidFill>
                <a:latin typeface="Inter SemiBold"/>
              </a:rPr>
              <a:t>Live Data Ingestion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275" y="2315616"/>
            <a:ext cx="2124075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Accept near real-time telematics or CAN bus streams instead of batch log file uploads.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29812" y="1410741"/>
            <a:ext cx="476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52798" y="2029866"/>
            <a:ext cx="2230278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293B"/>
                </a:solidFill>
                <a:latin typeface="Inter SemiBold"/>
              </a:rPr>
              <a:t>Cross-Program Benchmarking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5900" y="2506116"/>
            <a:ext cx="2124075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Compare DTC rates and fault patterns across vehicle programs and builds over time.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85937" y="4500562"/>
            <a:ext cx="476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93946" y="5119687"/>
            <a:ext cx="186023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293B"/>
                </a:solidFill>
                <a:latin typeface="Inter SemiBold"/>
              </a:rPr>
              <a:t>Role-Based Dashboards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025" y="5405437"/>
            <a:ext cx="2124075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Separate, tailored views and permissions for Engineers, Architects, and Program Managers.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00562" y="4500562"/>
            <a:ext cx="476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058602" y="5119687"/>
            <a:ext cx="136017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293B"/>
                </a:solidFill>
                <a:latin typeface="Inter SemiBold"/>
              </a:rPr>
              <a:t>Automated Alerts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6650" y="5405437"/>
            <a:ext cx="2124075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Send instant Teams / Slack notifications or raise tickets when high-severity DTCs are detected.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15187" y="4500562"/>
            <a:ext cx="476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343173" y="5119687"/>
            <a:ext cx="222027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293B"/>
                </a:solidFill>
                <a:latin typeface="Inter SemiBold"/>
              </a:rPr>
              <a:t>Audit Trail &amp; Compliance 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275" y="5405437"/>
            <a:ext cx="2124075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Full history of who changed what, when — exportable for quality and compliance reviews.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29812" y="4500562"/>
            <a:ext cx="476250" cy="4762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307830" y="5119687"/>
            <a:ext cx="172021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1E293B"/>
                </a:solidFill>
                <a:latin typeface="Inter SemiBold"/>
              </a:rPr>
              <a:t>On-Prem / Private LLM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5900" y="5405437"/>
            <a:ext cx="2124075" cy="594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Run the LLM and embedding models locally for OEMs with strict data residency requirements.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28812" y="1553616"/>
            <a:ext cx="190500" cy="1905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29150" y="1553616"/>
            <a:ext cx="219075" cy="1905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58062" y="1553616"/>
            <a:ext cx="190500" cy="1905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72687" y="1553616"/>
            <a:ext cx="190500" cy="1905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05000" y="4643437"/>
            <a:ext cx="238125" cy="1905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52962" y="4643437"/>
            <a:ext cx="171450" cy="1905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58062" y="4643437"/>
            <a:ext cx="190500" cy="1905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72687" y="4643437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09725"/>
            <a:ext cx="5048250" cy="46767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609725"/>
            <a:ext cx="5048250" cy="4676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Enterprise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85850"/>
            <a:ext cx="1066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DATA SECURITY AND INFRASTRUCTURE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 Medium"/>
              </a:rPr>
              <a:t>TCS Confidential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50" y="2038350"/>
            <a:ext cx="666750" cy="666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21004" y="2847975"/>
            <a:ext cx="193024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E293B"/>
                </a:solidFill>
                <a:latin typeface="Inter SemiBold"/>
              </a:rPr>
              <a:t>Dual Vector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171825"/>
            <a:ext cx="42672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Qdrant Cloud as the primary vector store with automatic SQLite fallback, so semantic search keeps working even if the cloud service is unreachable.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2038350"/>
            <a:ext cx="666750" cy="666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5705" y="2847975"/>
            <a:ext cx="27203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E293B"/>
                </a:solidFill>
                <a:latin typeface="Inter SemiBold"/>
              </a:rPr>
              <a:t>Full AI Configuration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3171825"/>
            <a:ext cx="42672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Swap LLM and embedding models, rotate API keys, and test all AI service connections directly from the Settings panel — no code changes required.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2775" y="2238375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2525" y="2238375"/>
            <a:ext cx="2667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085850"/>
            <a:ext cx="10668000" cy="115728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433637"/>
            <a:ext cx="10668000" cy="11572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781425"/>
            <a:ext cx="10668000" cy="11572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5129212"/>
            <a:ext cx="10668000" cy="11572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 Medium"/>
              </a:rPr>
              <a:t>TCS Confidential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1397793"/>
            <a:ext cx="571500" cy="571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2745581"/>
            <a:ext cx="571500" cy="571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4093368"/>
            <a:ext cx="571500" cy="571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5441156"/>
            <a:ext cx="571500" cy="571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2050" y="1569243"/>
            <a:ext cx="1714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24025" y="1331118"/>
            <a:ext cx="998124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Inter SemiBold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4025" y="1578768"/>
            <a:ext cx="9505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Vanilla HTML5, CSS, and JavaScript single-page application, served directly by the backend with a fully offline-compatible, bundled charting library — no external CDN dependency.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7762" y="2917031"/>
            <a:ext cx="200025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24025" y="2678906"/>
            <a:ext cx="998124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Inter SemiBold"/>
              </a:rPr>
              <a:t>Backend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4025" y="2926556"/>
            <a:ext cx="9505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High-performance FastAPI application in Python, backed by an embedded SQLite database running in WAL mode for reliable concurrent access.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3475" y="4264818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24025" y="4026693"/>
            <a:ext cx="998124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Inter SemiBold"/>
              </a:rPr>
              <a:t>AI &amp; Foundation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24025" y="4274343"/>
            <a:ext cx="9505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Powered by the NVIDIA NIM API, using the </a:t>
            </a:r>
            <a:r>
              <a:rPr b="1" sz="1125" i="0" u="none">
                <a:solidFill>
                  <a:srgbClr val="64748B"/>
                </a:solidFill>
                <a:latin typeface="Inter"/>
              </a:rPr>
              <a:t>openai/gpt-oss-20b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LLM and </a:t>
            </a:r>
            <a:r>
              <a:rPr b="1" sz="1125" i="0" u="none">
                <a:solidFill>
                  <a:srgbClr val="64748B"/>
                </a:solidFill>
                <a:latin typeface="Inter"/>
              </a:rPr>
              <a:t>nvidia/nv-embedqa-e5-v5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embedding model for diagnostic analysis and semantic search.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7762" y="5612606"/>
            <a:ext cx="200025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24025" y="5374481"/>
            <a:ext cx="998124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Inter SemiBold"/>
              </a:rPr>
              <a:t>Vector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24025" y="5622131"/>
            <a:ext cx="95059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Integrates with Qdrant Cloud for scalable semantic search and retrieval, with a built-in SQLite-based fallback for environments without cloud vector database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76350"/>
            <a:ext cx="3365450" cy="50101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200" y="1276350"/>
            <a:ext cx="3365450" cy="5010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400" y="1276350"/>
            <a:ext cx="3365599" cy="5010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Platform Interface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 Medium"/>
              </a:rPr>
              <a:t>TCS Confidential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3650" y="1800225"/>
            <a:ext cx="762000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4533" y="2895600"/>
            <a:ext cx="188023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E293B"/>
                </a:solidFill>
                <a:latin typeface="Inter SemiBold"/>
              </a:rPr>
              <a:t>Diagnostic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314700"/>
            <a:ext cx="29654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Browse, filter, and edit every parsed DTC record with live KPI cards and per-row AI analysis.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851" y="1800225"/>
            <a:ext cx="762000" cy="76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95726" y="2895600"/>
            <a:ext cx="2000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E293B"/>
                </a:solidFill>
                <a:latin typeface="Inter SemiBold"/>
              </a:rPr>
              <a:t>Summary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3225" y="3314700"/>
            <a:ext cx="29654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Visualize top DTCs, top modules, issue status breakdowns, and program distribution at a glance.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6200" y="1800225"/>
            <a:ext cx="762000" cy="76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92043" y="2895600"/>
            <a:ext cx="251031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E293B"/>
                </a:solidFill>
                <a:latin typeface="Inter SemiBold"/>
              </a:rPr>
              <a:t>Knowledge Base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425" y="3314700"/>
            <a:ext cx="2965549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Upload technical manuals and standards, then test semantic retrieval accuracy before running AI analysis.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2250" y="2028825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4401" y="2028825"/>
            <a:ext cx="3429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5750" y="2028825"/>
            <a:ext cx="3429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AI Root Cause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85850"/>
            <a:ext cx="1066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FLEET-WIDE AGENTIC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 Medium"/>
              </a:rPr>
              <a:t>TCS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2862262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The core evaluation engine runs a </a:t>
            </a:r>
            <a:r>
              <a:rPr b="1" sz="1125" i="0" u="none">
                <a:solidFill>
                  <a:srgbClr val="1E293B"/>
                </a:solidFill>
                <a:latin typeface="Inter"/>
              </a:rPr>
              <a:t>full fleet-wide root cause analysis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across every diagnostic record in the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3281362"/>
            <a:ext cx="8572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It extracts module and DTC frequency patterns, detects </a:t>
            </a:r>
            <a:r>
              <a:rPr b="1" sz="1125" i="0" u="none">
                <a:solidFill>
                  <a:srgbClr val="1E293B"/>
                </a:solidFill>
                <a:latin typeface="Inter"/>
              </a:rPr>
              <a:t>co-occurring fault clusters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within a 5-second window, and performs targeted multi-query RAG retrieval before generating its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3929062"/>
            <a:ext cx="8572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An </a:t>
            </a:r>
            <a:r>
              <a:rPr b="1" sz="1125" i="0" u="none">
                <a:solidFill>
                  <a:srgbClr val="1E293B"/>
                </a:solidFill>
                <a:latin typeface="Inter"/>
              </a:rPr>
              <a:t>agentic loop</a:t>
            </a:r>
            <a:r>
              <a:rPr b="0" sz="1125" i="0" u="none">
                <a:solidFill>
                  <a:srgbClr val="64748B"/>
                </a:solidFill>
                <a:latin typeface="Inter"/>
              </a:rPr>
              <a:t> lets the LLM request additional knowledge base searches — up to 4 iterations — before committing to a final report, ensuring conclusions are grounded in retrieved evidence rather than assumption.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9750" y="4576762"/>
            <a:ext cx="8572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The output includes an executive summary, per-module and per-DTC root cause hypotheses, weekly trend analysis, and a concrete engineering action plan.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Per-Entry Diagnostic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85850"/>
            <a:ext cx="1066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 SemiBold"/>
              </a:rPr>
              <a:t>TRACEABILITY OF DIAGNOSIS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 Medium"/>
              </a:rPr>
              <a:t>TCS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375" y="3052911"/>
            <a:ext cx="9572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Generates a focused, structured report for </a:t>
            </a:r>
            <a:r>
              <a:rPr b="1" sz="1200" i="0" u="none">
                <a:solidFill>
                  <a:srgbClr val="64748B"/>
                </a:solidFill>
                <a:latin typeface="Inter"/>
              </a:rPr>
              <a:t>any single DTC record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 on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375" y="3487191"/>
            <a:ext cx="957262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Uses a </a:t>
            </a:r>
            <a:r>
              <a:rPr b="1" sz="1200" i="0" u="none">
                <a:solidFill>
                  <a:srgbClr val="64748B"/>
                </a:solidFill>
                <a:latin typeface="Inter"/>
              </a:rPr>
              <a:t>3-tier retrieval fallback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 — primary vector search, lower-threshold vector search, then keyword search — so the AI always has usable context, even for sparse knowledge bases.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6375" y="4165252"/>
            <a:ext cx="9572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Produces a consistent 4-section report: </a:t>
            </a:r>
            <a:r>
              <a:rPr b="1" sz="1200" i="0" u="none">
                <a:solidFill>
                  <a:srgbClr val="64748B"/>
                </a:solidFill>
                <a:latin typeface="Inter"/>
              </a:rPr>
              <a:t>Diagnostic Overview, Root Cause, How to Fix, and Related Context &amp; Sources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6375" y="4599533"/>
            <a:ext cx="9572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Automatically </a:t>
            </a:r>
            <a:r>
              <a:rPr b="1" sz="1200" i="0" u="none">
                <a:solidFill>
                  <a:srgbClr val="64748B"/>
                </a:solidFill>
                <a:latin typeface="Inter"/>
              </a:rPr>
              <a:t>saves each report back to the record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, building a growing library of AI-reviewed diagnoses across the fleet.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086248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520529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198590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632870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76350"/>
            <a:ext cx="5048250" cy="50101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276350"/>
            <a:ext cx="5048250" cy="5010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E293B"/>
                </a:solidFill>
                <a:latin typeface="Inter"/>
              </a:rPr>
              <a:t>Advanced Knowledge (RAG)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 Medium"/>
              </a:rPr>
              <a:t>TCS Confidential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125" y="2546151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0999" y="3641526"/>
            <a:ext cx="2010251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1E293B"/>
                </a:solidFill>
                <a:latin typeface="Inter SemiBold"/>
              </a:rPr>
              <a:t>Semantic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4079676"/>
            <a:ext cx="426720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Provides highly relevant ECU architecture, DTC reference guides, and test procedures as direct context for every AI analysis — grounding diagnoses in your organization's own documentation rather than generic AI knowledge.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875" y="2546151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55743" y="3641526"/>
            <a:ext cx="2100262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1E293B"/>
                </a:solidFill>
                <a:latin typeface="Inter SemiBold"/>
              </a:rPr>
              <a:t>Intelligent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4079676"/>
            <a:ext cx="426720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64748B"/>
                </a:solidFill>
                <a:latin typeface="Inter"/>
              </a:rPr>
              <a:t>Parses and semantically chunks PDF, DOCX, TXT, CSV, and JSON documentation using the LLM itself, with automatic fallback to heuristic chunking, then embeds each chunk into a scalable Qdrant vector database.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5625" y="2774751"/>
            <a:ext cx="3810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3475" y="2774751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53675" y="6410325"/>
            <a:ext cx="10763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 Medium"/>
              </a:rPr>
              <a:t>TCS Confidential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0" y="2347912"/>
            <a:ext cx="9525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55744" y="3395662"/>
            <a:ext cx="408051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6000" i="0" u="none">
                <a:solidFill>
                  <a:srgbClr val="1E293B"/>
                </a:solidFill>
                <a:latin typeface="Inter Extra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